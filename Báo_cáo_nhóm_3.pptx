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1"/>
  </p:sldMasterIdLst>
  <p:sldIdLst>
    <p:sldId id="256" r:id="rId2"/>
    <p:sldId id="285" r:id="rId3"/>
    <p:sldId id="257" r:id="rId4"/>
    <p:sldId id="258" r:id="rId5"/>
    <p:sldId id="272" r:id="rId6"/>
    <p:sldId id="261" r:id="rId7"/>
    <p:sldId id="273" r:id="rId8"/>
    <p:sldId id="274" r:id="rId9"/>
    <p:sldId id="275" r:id="rId10"/>
    <p:sldId id="263" r:id="rId11"/>
    <p:sldId id="276" r:id="rId12"/>
    <p:sldId id="277" r:id="rId13"/>
    <p:sldId id="278" r:id="rId14"/>
    <p:sldId id="279" r:id="rId15"/>
    <p:sldId id="265" r:id="rId16"/>
    <p:sldId id="266" r:id="rId17"/>
    <p:sldId id="281" r:id="rId18"/>
    <p:sldId id="280" r:id="rId19"/>
    <p:sldId id="283" r:id="rId20"/>
    <p:sldId id="284"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848"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2F7E15-CA02-473B-9ECC-BEF6C0406B79}"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4617F341-D6FA-4EDA-AF0F-5487109CC874}">
      <dgm:prSet/>
      <dgm:spPr/>
      <dgm:t>
        <a:bodyPr/>
        <a:lstStyle/>
        <a:p>
          <a:pPr>
            <a:defRPr cap="all"/>
          </a:pPr>
          <a:r>
            <a:rPr lang="en-US" cap="none" baseline="0" dirty="0">
              <a:latin typeface="Times New Roman" panose="02020603050405020304" pitchFamily="18" charset="0"/>
              <a:cs typeface="Times New Roman" panose="02020603050405020304" pitchFamily="18" charset="0"/>
            </a:rPr>
            <a:t>I. </a:t>
          </a:r>
          <a:r>
            <a:rPr lang="en-US" cap="none" baseline="0" dirty="0" err="1">
              <a:latin typeface="Times New Roman" panose="02020603050405020304" pitchFamily="18" charset="0"/>
              <a:cs typeface="Times New Roman" panose="02020603050405020304" pitchFamily="18" charset="0"/>
            </a:rPr>
            <a:t>Giới</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thiệu</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về</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đề</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tài</a:t>
          </a:r>
          <a:endParaRPr lang="en-US" cap="none" baseline="0" dirty="0">
            <a:latin typeface="Times New Roman" panose="02020603050405020304" pitchFamily="18" charset="0"/>
            <a:cs typeface="Times New Roman" panose="02020603050405020304" pitchFamily="18" charset="0"/>
          </a:endParaRPr>
        </a:p>
      </dgm:t>
    </dgm:pt>
    <dgm:pt modelId="{B6138ADD-B7CE-4587-A51A-AC6A6DBBB507}" type="parTrans" cxnId="{EB634502-2075-48BC-8531-BA8734CB9F62}">
      <dgm:prSet/>
      <dgm:spPr/>
      <dgm:t>
        <a:bodyPr/>
        <a:lstStyle/>
        <a:p>
          <a:endParaRPr lang="en-US"/>
        </a:p>
      </dgm:t>
    </dgm:pt>
    <dgm:pt modelId="{979662E5-F6FA-4D12-AEF6-B25153636478}" type="sibTrans" cxnId="{EB634502-2075-48BC-8531-BA8734CB9F62}">
      <dgm:prSet/>
      <dgm:spPr/>
      <dgm:t>
        <a:bodyPr/>
        <a:lstStyle/>
        <a:p>
          <a:endParaRPr lang="en-US"/>
        </a:p>
      </dgm:t>
    </dgm:pt>
    <dgm:pt modelId="{B86756C1-8531-4355-8C7B-D87E0C32ABAA}">
      <dgm:prSet/>
      <dgm:spPr/>
      <dgm:t>
        <a:bodyPr/>
        <a:lstStyle/>
        <a:p>
          <a:pPr>
            <a:defRPr cap="all"/>
          </a:pPr>
          <a:r>
            <a:rPr lang="en-US" cap="none" baseline="0" dirty="0">
              <a:latin typeface="Times New Roman" panose="02020603050405020304" pitchFamily="18" charset="0"/>
              <a:cs typeface="Times New Roman" panose="02020603050405020304" pitchFamily="18" charset="0"/>
            </a:rPr>
            <a:t>IV. </a:t>
          </a:r>
          <a:r>
            <a:rPr lang="en-US" cap="none" baseline="0" dirty="0" err="1">
              <a:latin typeface="Times New Roman" panose="02020603050405020304" pitchFamily="18" charset="0"/>
              <a:cs typeface="Times New Roman" panose="02020603050405020304" pitchFamily="18" charset="0"/>
            </a:rPr>
            <a:t>Triển</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khai</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trên</a:t>
          </a:r>
          <a:r>
            <a:rPr lang="en-US" cap="none" baseline="0" dirty="0">
              <a:latin typeface="Times New Roman" panose="02020603050405020304" pitchFamily="18" charset="0"/>
              <a:cs typeface="Times New Roman" panose="02020603050405020304" pitchFamily="18" charset="0"/>
            </a:rPr>
            <a:t> Kaggle Notebook</a:t>
          </a:r>
        </a:p>
      </dgm:t>
    </dgm:pt>
    <dgm:pt modelId="{0440F34C-4B65-4BFF-BC54-D84D7F6B99DB}" type="parTrans" cxnId="{7345DB95-B8E6-4EF3-8388-7C23969299B7}">
      <dgm:prSet/>
      <dgm:spPr/>
      <dgm:t>
        <a:bodyPr/>
        <a:lstStyle/>
        <a:p>
          <a:endParaRPr lang="en-US"/>
        </a:p>
      </dgm:t>
    </dgm:pt>
    <dgm:pt modelId="{7981A59D-A60D-4FDC-96F1-DFE175596750}" type="sibTrans" cxnId="{7345DB95-B8E6-4EF3-8388-7C23969299B7}">
      <dgm:prSet/>
      <dgm:spPr/>
      <dgm:t>
        <a:bodyPr/>
        <a:lstStyle/>
        <a:p>
          <a:endParaRPr lang="en-US"/>
        </a:p>
      </dgm:t>
    </dgm:pt>
    <dgm:pt modelId="{9CBE5861-ACEF-4893-9F59-8860894B10D3}">
      <dgm:prSet/>
      <dgm:spPr/>
      <dgm:t>
        <a:bodyPr/>
        <a:lstStyle/>
        <a:p>
          <a:pPr>
            <a:defRPr cap="all"/>
          </a:pPr>
          <a:r>
            <a:rPr lang="en-US" cap="none" baseline="0" dirty="0">
              <a:latin typeface="Times New Roman" panose="02020603050405020304" pitchFamily="18" charset="0"/>
              <a:cs typeface="Times New Roman" panose="02020603050405020304" pitchFamily="18" charset="0"/>
            </a:rPr>
            <a:t>II. Phương </a:t>
          </a:r>
          <a:r>
            <a:rPr lang="en-US" cap="none" baseline="0" dirty="0" err="1">
              <a:latin typeface="Times New Roman" panose="02020603050405020304" pitchFamily="18" charset="0"/>
              <a:cs typeface="Times New Roman" panose="02020603050405020304" pitchFamily="18" charset="0"/>
            </a:rPr>
            <a:t>pháp</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nghiên</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cứu</a:t>
          </a:r>
          <a:r>
            <a:rPr lang="en-US" cap="none" baseline="0" dirty="0">
              <a:latin typeface="Times New Roman" panose="02020603050405020304" pitchFamily="18" charset="0"/>
              <a:cs typeface="Times New Roman" panose="02020603050405020304" pitchFamily="18" charset="0"/>
            </a:rPr>
            <a:t> &amp; </a:t>
          </a:r>
          <a:r>
            <a:rPr lang="en-US" cap="none" baseline="0" dirty="0" err="1">
              <a:latin typeface="Times New Roman" panose="02020603050405020304" pitchFamily="18" charset="0"/>
              <a:cs typeface="Times New Roman" panose="02020603050405020304" pitchFamily="18" charset="0"/>
            </a:rPr>
            <a:t>triển</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khai</a:t>
          </a:r>
          <a:endParaRPr lang="en-US" cap="none" baseline="0" dirty="0">
            <a:latin typeface="Times New Roman" panose="02020603050405020304" pitchFamily="18" charset="0"/>
            <a:cs typeface="Times New Roman" panose="02020603050405020304" pitchFamily="18" charset="0"/>
          </a:endParaRPr>
        </a:p>
      </dgm:t>
    </dgm:pt>
    <dgm:pt modelId="{27C28F97-7B80-4AC4-B800-081A88415C37}" type="parTrans" cxnId="{F25B06F4-A05B-4C89-A55E-AB4B7296EE0B}">
      <dgm:prSet/>
      <dgm:spPr/>
      <dgm:t>
        <a:bodyPr/>
        <a:lstStyle/>
        <a:p>
          <a:endParaRPr lang="en-SG"/>
        </a:p>
      </dgm:t>
    </dgm:pt>
    <dgm:pt modelId="{B78884DE-1957-4F18-AC01-26729174B6B4}" type="sibTrans" cxnId="{F25B06F4-A05B-4C89-A55E-AB4B7296EE0B}">
      <dgm:prSet/>
      <dgm:spPr/>
      <dgm:t>
        <a:bodyPr/>
        <a:lstStyle/>
        <a:p>
          <a:endParaRPr lang="en-SG"/>
        </a:p>
      </dgm:t>
    </dgm:pt>
    <dgm:pt modelId="{503276DF-727C-409C-AE2C-2B7113A006F8}">
      <dgm:prSet/>
      <dgm:spPr/>
      <dgm:t>
        <a:bodyPr/>
        <a:lstStyle/>
        <a:p>
          <a:pPr>
            <a:defRPr cap="all"/>
          </a:pPr>
          <a:r>
            <a:rPr lang="en-US" cap="none" baseline="0" dirty="0">
              <a:latin typeface="Times New Roman" panose="02020603050405020304" pitchFamily="18" charset="0"/>
              <a:cs typeface="Times New Roman" panose="02020603050405020304" pitchFamily="18" charset="0"/>
            </a:rPr>
            <a:t>III. </a:t>
          </a:r>
          <a:r>
            <a:rPr lang="en-US" cap="none" baseline="0" dirty="0" err="1">
              <a:latin typeface="Times New Roman" panose="02020603050405020304" pitchFamily="18" charset="0"/>
              <a:cs typeface="Times New Roman" panose="02020603050405020304" pitchFamily="18" charset="0"/>
            </a:rPr>
            <a:t>Kết</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quả</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thu</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được</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của</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mô</a:t>
          </a:r>
          <a:r>
            <a:rPr lang="en-US" cap="none" baseline="0" dirty="0">
              <a:latin typeface="Times New Roman" panose="02020603050405020304" pitchFamily="18" charset="0"/>
              <a:cs typeface="Times New Roman" panose="02020603050405020304" pitchFamily="18" charset="0"/>
            </a:rPr>
            <a:t> </a:t>
          </a:r>
          <a:r>
            <a:rPr lang="en-US" cap="none" baseline="0" dirty="0" err="1">
              <a:latin typeface="Times New Roman" panose="02020603050405020304" pitchFamily="18" charset="0"/>
              <a:cs typeface="Times New Roman" panose="02020603050405020304" pitchFamily="18" charset="0"/>
            </a:rPr>
            <a:t>hình</a:t>
          </a:r>
          <a:endParaRPr lang="en-US" cap="none" baseline="0" dirty="0">
            <a:latin typeface="Times New Roman" panose="02020603050405020304" pitchFamily="18" charset="0"/>
            <a:cs typeface="Times New Roman" panose="02020603050405020304" pitchFamily="18" charset="0"/>
          </a:endParaRPr>
        </a:p>
      </dgm:t>
    </dgm:pt>
    <dgm:pt modelId="{DA31238D-E588-4CC7-94FD-48FBEBC72928}" type="parTrans" cxnId="{28F36A1D-6C0A-463C-AA21-E30DD7031EDA}">
      <dgm:prSet/>
      <dgm:spPr/>
      <dgm:t>
        <a:bodyPr/>
        <a:lstStyle/>
        <a:p>
          <a:endParaRPr lang="en-SG"/>
        </a:p>
      </dgm:t>
    </dgm:pt>
    <dgm:pt modelId="{2861FDF3-015F-4F80-87DB-C935731B37DF}" type="sibTrans" cxnId="{28F36A1D-6C0A-463C-AA21-E30DD7031EDA}">
      <dgm:prSet/>
      <dgm:spPr/>
      <dgm:t>
        <a:bodyPr/>
        <a:lstStyle/>
        <a:p>
          <a:endParaRPr lang="en-SG"/>
        </a:p>
      </dgm:t>
    </dgm:pt>
    <dgm:pt modelId="{47BD5988-DFB7-4EB6-8AAE-7821DE5780B0}" type="pres">
      <dgm:prSet presAssocID="{F72F7E15-CA02-473B-9ECC-BEF6C0406B79}" presName="outerComposite" presStyleCnt="0">
        <dgm:presLayoutVars>
          <dgm:chMax val="5"/>
          <dgm:dir/>
          <dgm:resizeHandles val="exact"/>
        </dgm:presLayoutVars>
      </dgm:prSet>
      <dgm:spPr/>
    </dgm:pt>
    <dgm:pt modelId="{20A73B15-8C30-4411-9AD2-78A4353B3514}" type="pres">
      <dgm:prSet presAssocID="{F72F7E15-CA02-473B-9ECC-BEF6C0406B79}" presName="dummyMaxCanvas" presStyleCnt="0">
        <dgm:presLayoutVars/>
      </dgm:prSet>
      <dgm:spPr/>
    </dgm:pt>
    <dgm:pt modelId="{7B4D1677-D8AA-4753-9222-0E30D8DC9105}" type="pres">
      <dgm:prSet presAssocID="{F72F7E15-CA02-473B-9ECC-BEF6C0406B79}" presName="FourNodes_1" presStyleLbl="node1" presStyleIdx="0" presStyleCnt="4" custLinFactNeighborX="-3205">
        <dgm:presLayoutVars>
          <dgm:bulletEnabled val="1"/>
        </dgm:presLayoutVars>
      </dgm:prSet>
      <dgm:spPr/>
    </dgm:pt>
    <dgm:pt modelId="{8F4AAA4F-D16E-4B98-93B7-3048F7F6CD45}" type="pres">
      <dgm:prSet presAssocID="{F72F7E15-CA02-473B-9ECC-BEF6C0406B79}" presName="FourNodes_2" presStyleLbl="node1" presStyleIdx="1" presStyleCnt="4">
        <dgm:presLayoutVars>
          <dgm:bulletEnabled val="1"/>
        </dgm:presLayoutVars>
      </dgm:prSet>
      <dgm:spPr/>
    </dgm:pt>
    <dgm:pt modelId="{B2CE75E0-B4D4-41C0-9B03-243DFA7797A6}" type="pres">
      <dgm:prSet presAssocID="{F72F7E15-CA02-473B-9ECC-BEF6C0406B79}" presName="FourNodes_3" presStyleLbl="node1" presStyleIdx="2" presStyleCnt="4">
        <dgm:presLayoutVars>
          <dgm:bulletEnabled val="1"/>
        </dgm:presLayoutVars>
      </dgm:prSet>
      <dgm:spPr/>
    </dgm:pt>
    <dgm:pt modelId="{208D0373-5C03-4C15-911A-01C1E6A3F3B5}" type="pres">
      <dgm:prSet presAssocID="{F72F7E15-CA02-473B-9ECC-BEF6C0406B79}" presName="FourNodes_4" presStyleLbl="node1" presStyleIdx="3" presStyleCnt="4">
        <dgm:presLayoutVars>
          <dgm:bulletEnabled val="1"/>
        </dgm:presLayoutVars>
      </dgm:prSet>
      <dgm:spPr/>
    </dgm:pt>
    <dgm:pt modelId="{D7EEBE97-21BC-4D85-B35E-6DE8A7BC666D}" type="pres">
      <dgm:prSet presAssocID="{F72F7E15-CA02-473B-9ECC-BEF6C0406B79}" presName="FourConn_1-2" presStyleLbl="fgAccFollowNode1" presStyleIdx="0" presStyleCnt="3">
        <dgm:presLayoutVars>
          <dgm:bulletEnabled val="1"/>
        </dgm:presLayoutVars>
      </dgm:prSet>
      <dgm:spPr/>
    </dgm:pt>
    <dgm:pt modelId="{196318C4-31FD-45FA-B8E4-BEABCFB665EB}" type="pres">
      <dgm:prSet presAssocID="{F72F7E15-CA02-473B-9ECC-BEF6C0406B79}" presName="FourConn_2-3" presStyleLbl="fgAccFollowNode1" presStyleIdx="1" presStyleCnt="3">
        <dgm:presLayoutVars>
          <dgm:bulletEnabled val="1"/>
        </dgm:presLayoutVars>
      </dgm:prSet>
      <dgm:spPr/>
    </dgm:pt>
    <dgm:pt modelId="{6A6E02D3-CFAA-4807-8727-2C7898986D1C}" type="pres">
      <dgm:prSet presAssocID="{F72F7E15-CA02-473B-9ECC-BEF6C0406B79}" presName="FourConn_3-4" presStyleLbl="fgAccFollowNode1" presStyleIdx="2" presStyleCnt="3">
        <dgm:presLayoutVars>
          <dgm:bulletEnabled val="1"/>
        </dgm:presLayoutVars>
      </dgm:prSet>
      <dgm:spPr/>
    </dgm:pt>
    <dgm:pt modelId="{92D618DE-6240-44D4-A154-E2B4E8BC3A96}" type="pres">
      <dgm:prSet presAssocID="{F72F7E15-CA02-473B-9ECC-BEF6C0406B79}" presName="FourNodes_1_text" presStyleLbl="node1" presStyleIdx="3" presStyleCnt="4">
        <dgm:presLayoutVars>
          <dgm:bulletEnabled val="1"/>
        </dgm:presLayoutVars>
      </dgm:prSet>
      <dgm:spPr/>
    </dgm:pt>
    <dgm:pt modelId="{E1E2BB99-BE49-4CEA-8EE2-7F1856C2EDC8}" type="pres">
      <dgm:prSet presAssocID="{F72F7E15-CA02-473B-9ECC-BEF6C0406B79}" presName="FourNodes_2_text" presStyleLbl="node1" presStyleIdx="3" presStyleCnt="4">
        <dgm:presLayoutVars>
          <dgm:bulletEnabled val="1"/>
        </dgm:presLayoutVars>
      </dgm:prSet>
      <dgm:spPr/>
    </dgm:pt>
    <dgm:pt modelId="{6A7455D4-E5DF-46A2-8692-07C8CDBEF631}" type="pres">
      <dgm:prSet presAssocID="{F72F7E15-CA02-473B-9ECC-BEF6C0406B79}" presName="FourNodes_3_text" presStyleLbl="node1" presStyleIdx="3" presStyleCnt="4">
        <dgm:presLayoutVars>
          <dgm:bulletEnabled val="1"/>
        </dgm:presLayoutVars>
      </dgm:prSet>
      <dgm:spPr/>
    </dgm:pt>
    <dgm:pt modelId="{9B3F3EC4-85ED-431B-B21E-83517E108F0C}" type="pres">
      <dgm:prSet presAssocID="{F72F7E15-CA02-473B-9ECC-BEF6C0406B79}" presName="FourNodes_4_text" presStyleLbl="node1" presStyleIdx="3" presStyleCnt="4">
        <dgm:presLayoutVars>
          <dgm:bulletEnabled val="1"/>
        </dgm:presLayoutVars>
      </dgm:prSet>
      <dgm:spPr/>
    </dgm:pt>
  </dgm:ptLst>
  <dgm:cxnLst>
    <dgm:cxn modelId="{EB634502-2075-48BC-8531-BA8734CB9F62}" srcId="{F72F7E15-CA02-473B-9ECC-BEF6C0406B79}" destId="{4617F341-D6FA-4EDA-AF0F-5487109CC874}" srcOrd="0" destOrd="0" parTransId="{B6138ADD-B7CE-4587-A51A-AC6A6DBBB507}" sibTransId="{979662E5-F6FA-4D12-AEF6-B25153636478}"/>
    <dgm:cxn modelId="{F81CAD05-B37E-4044-9464-3A888784FE72}" type="presOf" srcId="{979662E5-F6FA-4D12-AEF6-B25153636478}" destId="{D7EEBE97-21BC-4D85-B35E-6DE8A7BC666D}" srcOrd="0" destOrd="0" presId="urn:microsoft.com/office/officeart/2005/8/layout/vProcess5"/>
    <dgm:cxn modelId="{FA660E12-E41D-4832-A8BD-A7E1F2406FF2}" type="presOf" srcId="{503276DF-727C-409C-AE2C-2B7113A006F8}" destId="{6A7455D4-E5DF-46A2-8692-07C8CDBEF631}" srcOrd="1" destOrd="0" presId="urn:microsoft.com/office/officeart/2005/8/layout/vProcess5"/>
    <dgm:cxn modelId="{28F36A1D-6C0A-463C-AA21-E30DD7031EDA}" srcId="{F72F7E15-CA02-473B-9ECC-BEF6C0406B79}" destId="{503276DF-727C-409C-AE2C-2B7113A006F8}" srcOrd="2" destOrd="0" parTransId="{DA31238D-E588-4CC7-94FD-48FBEBC72928}" sibTransId="{2861FDF3-015F-4F80-87DB-C935731B37DF}"/>
    <dgm:cxn modelId="{AE319850-117A-44A4-BBFF-9522D385350B}" type="presOf" srcId="{4617F341-D6FA-4EDA-AF0F-5487109CC874}" destId="{92D618DE-6240-44D4-A154-E2B4E8BC3A96}" srcOrd="1" destOrd="0" presId="urn:microsoft.com/office/officeart/2005/8/layout/vProcess5"/>
    <dgm:cxn modelId="{0D11C574-CD75-437B-9650-1DE1AEB3B733}" type="presOf" srcId="{B86756C1-8531-4355-8C7B-D87E0C32ABAA}" destId="{208D0373-5C03-4C15-911A-01C1E6A3F3B5}" srcOrd="0" destOrd="0" presId="urn:microsoft.com/office/officeart/2005/8/layout/vProcess5"/>
    <dgm:cxn modelId="{7E7A6984-5C16-4041-9BD0-3C683537F847}" type="presOf" srcId="{9CBE5861-ACEF-4893-9F59-8860894B10D3}" destId="{E1E2BB99-BE49-4CEA-8EE2-7F1856C2EDC8}" srcOrd="1" destOrd="0" presId="urn:microsoft.com/office/officeart/2005/8/layout/vProcess5"/>
    <dgm:cxn modelId="{49BE3D85-BDDC-4323-9312-E5C33B7F7CD6}" type="presOf" srcId="{B86756C1-8531-4355-8C7B-D87E0C32ABAA}" destId="{9B3F3EC4-85ED-431B-B21E-83517E108F0C}" srcOrd="1" destOrd="0" presId="urn:microsoft.com/office/officeart/2005/8/layout/vProcess5"/>
    <dgm:cxn modelId="{F92A6B85-2E4A-4895-9179-8E258CEB5099}" type="presOf" srcId="{4617F341-D6FA-4EDA-AF0F-5487109CC874}" destId="{7B4D1677-D8AA-4753-9222-0E30D8DC9105}" srcOrd="0" destOrd="0" presId="urn:microsoft.com/office/officeart/2005/8/layout/vProcess5"/>
    <dgm:cxn modelId="{6E441990-091D-45FE-A948-E9AC8157AA2E}" type="presOf" srcId="{9CBE5861-ACEF-4893-9F59-8860894B10D3}" destId="{8F4AAA4F-D16E-4B98-93B7-3048F7F6CD45}" srcOrd="0" destOrd="0" presId="urn:microsoft.com/office/officeart/2005/8/layout/vProcess5"/>
    <dgm:cxn modelId="{440CB194-A083-47D8-A6D6-523B58E6A59A}" type="presOf" srcId="{B78884DE-1957-4F18-AC01-26729174B6B4}" destId="{196318C4-31FD-45FA-B8E4-BEABCFB665EB}" srcOrd="0" destOrd="0" presId="urn:microsoft.com/office/officeart/2005/8/layout/vProcess5"/>
    <dgm:cxn modelId="{87F41C95-BC8B-4716-A18D-5EBCC7B0E357}" type="presOf" srcId="{2861FDF3-015F-4F80-87DB-C935731B37DF}" destId="{6A6E02D3-CFAA-4807-8727-2C7898986D1C}" srcOrd="0" destOrd="0" presId="urn:microsoft.com/office/officeart/2005/8/layout/vProcess5"/>
    <dgm:cxn modelId="{7345DB95-B8E6-4EF3-8388-7C23969299B7}" srcId="{F72F7E15-CA02-473B-9ECC-BEF6C0406B79}" destId="{B86756C1-8531-4355-8C7B-D87E0C32ABAA}" srcOrd="3" destOrd="0" parTransId="{0440F34C-4B65-4BFF-BC54-D84D7F6B99DB}" sibTransId="{7981A59D-A60D-4FDC-96F1-DFE175596750}"/>
    <dgm:cxn modelId="{DB2E20CC-C2DD-4672-8D1C-453D6C5F6B6E}" type="presOf" srcId="{503276DF-727C-409C-AE2C-2B7113A006F8}" destId="{B2CE75E0-B4D4-41C0-9B03-243DFA7797A6}" srcOrd="0" destOrd="0" presId="urn:microsoft.com/office/officeart/2005/8/layout/vProcess5"/>
    <dgm:cxn modelId="{8B2873F2-B75A-4653-930B-785437A544F7}" type="presOf" srcId="{F72F7E15-CA02-473B-9ECC-BEF6C0406B79}" destId="{47BD5988-DFB7-4EB6-8AAE-7821DE5780B0}" srcOrd="0" destOrd="0" presId="urn:microsoft.com/office/officeart/2005/8/layout/vProcess5"/>
    <dgm:cxn modelId="{F25B06F4-A05B-4C89-A55E-AB4B7296EE0B}" srcId="{F72F7E15-CA02-473B-9ECC-BEF6C0406B79}" destId="{9CBE5861-ACEF-4893-9F59-8860894B10D3}" srcOrd="1" destOrd="0" parTransId="{27C28F97-7B80-4AC4-B800-081A88415C37}" sibTransId="{B78884DE-1957-4F18-AC01-26729174B6B4}"/>
    <dgm:cxn modelId="{5DCEC107-6B9D-4981-BD62-4C86A5E7EF29}" type="presParOf" srcId="{47BD5988-DFB7-4EB6-8AAE-7821DE5780B0}" destId="{20A73B15-8C30-4411-9AD2-78A4353B3514}" srcOrd="0" destOrd="0" presId="urn:microsoft.com/office/officeart/2005/8/layout/vProcess5"/>
    <dgm:cxn modelId="{9EAA39F1-7CC8-49C6-8D46-3BDA2556B9DB}" type="presParOf" srcId="{47BD5988-DFB7-4EB6-8AAE-7821DE5780B0}" destId="{7B4D1677-D8AA-4753-9222-0E30D8DC9105}" srcOrd="1" destOrd="0" presId="urn:microsoft.com/office/officeart/2005/8/layout/vProcess5"/>
    <dgm:cxn modelId="{B206DD31-1CA5-43CC-8820-654ED7BC369A}" type="presParOf" srcId="{47BD5988-DFB7-4EB6-8AAE-7821DE5780B0}" destId="{8F4AAA4F-D16E-4B98-93B7-3048F7F6CD45}" srcOrd="2" destOrd="0" presId="urn:microsoft.com/office/officeart/2005/8/layout/vProcess5"/>
    <dgm:cxn modelId="{D496FDF5-E97B-419E-816B-89BF0D1733AB}" type="presParOf" srcId="{47BD5988-DFB7-4EB6-8AAE-7821DE5780B0}" destId="{B2CE75E0-B4D4-41C0-9B03-243DFA7797A6}" srcOrd="3" destOrd="0" presId="urn:microsoft.com/office/officeart/2005/8/layout/vProcess5"/>
    <dgm:cxn modelId="{10F13CB2-A02B-4916-AC9B-D52614691E4D}" type="presParOf" srcId="{47BD5988-DFB7-4EB6-8AAE-7821DE5780B0}" destId="{208D0373-5C03-4C15-911A-01C1E6A3F3B5}" srcOrd="4" destOrd="0" presId="urn:microsoft.com/office/officeart/2005/8/layout/vProcess5"/>
    <dgm:cxn modelId="{40B2424B-0CD6-4EE5-95F4-2E43F57D6695}" type="presParOf" srcId="{47BD5988-DFB7-4EB6-8AAE-7821DE5780B0}" destId="{D7EEBE97-21BC-4D85-B35E-6DE8A7BC666D}" srcOrd="5" destOrd="0" presId="urn:microsoft.com/office/officeart/2005/8/layout/vProcess5"/>
    <dgm:cxn modelId="{56EEFF12-D663-42E3-8877-FC1C99D54E41}" type="presParOf" srcId="{47BD5988-DFB7-4EB6-8AAE-7821DE5780B0}" destId="{196318C4-31FD-45FA-B8E4-BEABCFB665EB}" srcOrd="6" destOrd="0" presId="urn:microsoft.com/office/officeart/2005/8/layout/vProcess5"/>
    <dgm:cxn modelId="{E149D22E-5E0E-4264-B707-B06C007B79E7}" type="presParOf" srcId="{47BD5988-DFB7-4EB6-8AAE-7821DE5780B0}" destId="{6A6E02D3-CFAA-4807-8727-2C7898986D1C}" srcOrd="7" destOrd="0" presId="urn:microsoft.com/office/officeart/2005/8/layout/vProcess5"/>
    <dgm:cxn modelId="{BB69D519-BCB0-40BF-99F2-19FD3B182CC6}" type="presParOf" srcId="{47BD5988-DFB7-4EB6-8AAE-7821DE5780B0}" destId="{92D618DE-6240-44D4-A154-E2B4E8BC3A96}" srcOrd="8" destOrd="0" presId="urn:microsoft.com/office/officeart/2005/8/layout/vProcess5"/>
    <dgm:cxn modelId="{C9B620F1-2DDD-45E7-8639-381688101B51}" type="presParOf" srcId="{47BD5988-DFB7-4EB6-8AAE-7821DE5780B0}" destId="{E1E2BB99-BE49-4CEA-8EE2-7F1856C2EDC8}" srcOrd="9" destOrd="0" presId="urn:microsoft.com/office/officeart/2005/8/layout/vProcess5"/>
    <dgm:cxn modelId="{5BF2E77F-DB1C-435C-A186-5927B4FC6DB5}" type="presParOf" srcId="{47BD5988-DFB7-4EB6-8AAE-7821DE5780B0}" destId="{6A7455D4-E5DF-46A2-8692-07C8CDBEF631}" srcOrd="10" destOrd="0" presId="urn:microsoft.com/office/officeart/2005/8/layout/vProcess5"/>
    <dgm:cxn modelId="{65D37E67-18FD-4868-8478-9963227BF19C}" type="presParOf" srcId="{47BD5988-DFB7-4EB6-8AAE-7821DE5780B0}" destId="{9B3F3EC4-85ED-431B-B21E-83517E108F0C}"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7C5F69-0EC3-4A18-B49F-B32B06FB584A}"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09E7D82-3259-47FD-B510-06D697FD1FA7}">
      <dgm:prSet/>
      <dgm:spPr/>
      <dgm:t>
        <a:bodyPr/>
        <a:lstStyle/>
        <a:p>
          <a:r>
            <a:rPr lang="en-US" dirty="0"/>
            <a:t>1. </a:t>
          </a:r>
          <a:r>
            <a:rPr lang="en-US" dirty="0" err="1"/>
            <a:t>Tiền</a:t>
          </a:r>
          <a:r>
            <a:rPr lang="en-US" dirty="0"/>
            <a:t> </a:t>
          </a:r>
          <a:r>
            <a:rPr lang="en-US" dirty="0" err="1"/>
            <a:t>xử</a:t>
          </a:r>
          <a:r>
            <a:rPr lang="en-US" dirty="0"/>
            <a:t> </a:t>
          </a:r>
          <a:r>
            <a:rPr lang="en-US" dirty="0" err="1"/>
            <a:t>lý</a:t>
          </a:r>
          <a:r>
            <a:rPr lang="en-US" dirty="0"/>
            <a:t> &amp; augmentation</a:t>
          </a:r>
        </a:p>
      </dgm:t>
    </dgm:pt>
    <dgm:pt modelId="{852EAB45-7E02-4881-B457-86B89BEF7F2A}" type="parTrans" cxnId="{AB14BC94-31B1-48FD-B482-9E4A4B110D98}">
      <dgm:prSet/>
      <dgm:spPr/>
      <dgm:t>
        <a:bodyPr/>
        <a:lstStyle/>
        <a:p>
          <a:endParaRPr lang="en-US"/>
        </a:p>
      </dgm:t>
    </dgm:pt>
    <dgm:pt modelId="{BE3CFF17-382C-4BB0-BD4B-F8FA15C1B717}" type="sibTrans" cxnId="{AB14BC94-31B1-48FD-B482-9E4A4B110D98}">
      <dgm:prSet/>
      <dgm:spPr/>
      <dgm:t>
        <a:bodyPr/>
        <a:lstStyle/>
        <a:p>
          <a:endParaRPr lang="en-US"/>
        </a:p>
      </dgm:t>
    </dgm:pt>
    <dgm:pt modelId="{0F3A2BDD-58EE-4757-A8F7-20819037D670}">
      <dgm:prSet/>
      <dgm:spPr/>
      <dgm:t>
        <a:bodyPr/>
        <a:lstStyle/>
        <a:p>
          <a:r>
            <a:rPr lang="en-US"/>
            <a:t>2. Load ResNet50 pretrained, freeze các lớp đầu</a:t>
          </a:r>
        </a:p>
      </dgm:t>
    </dgm:pt>
    <dgm:pt modelId="{B95CC76E-E35A-4C62-8BE0-53D3DC998D49}" type="parTrans" cxnId="{8DA099ED-53A6-4351-AF26-55870C0C9E8A}">
      <dgm:prSet/>
      <dgm:spPr/>
      <dgm:t>
        <a:bodyPr/>
        <a:lstStyle/>
        <a:p>
          <a:endParaRPr lang="en-US"/>
        </a:p>
      </dgm:t>
    </dgm:pt>
    <dgm:pt modelId="{541C490E-52F1-44DF-8DFA-AFD03DEB74CB}" type="sibTrans" cxnId="{8DA099ED-53A6-4351-AF26-55870C0C9E8A}">
      <dgm:prSet/>
      <dgm:spPr/>
      <dgm:t>
        <a:bodyPr/>
        <a:lstStyle/>
        <a:p>
          <a:endParaRPr lang="en-US"/>
        </a:p>
      </dgm:t>
    </dgm:pt>
    <dgm:pt modelId="{D5738817-75AD-45C2-A167-C553FC53B200}">
      <dgm:prSet/>
      <dgm:spPr/>
      <dgm:t>
        <a:bodyPr/>
        <a:lstStyle/>
        <a:p>
          <a:r>
            <a:rPr lang="en-US"/>
            <a:t>3. Thêm Dense + Dropout cho 2 lớp output</a:t>
          </a:r>
        </a:p>
      </dgm:t>
    </dgm:pt>
    <dgm:pt modelId="{AE6E3769-16A2-404D-9B5B-907EFFC80DD8}" type="parTrans" cxnId="{F0D36BBA-B2C7-4585-AEEA-12D5B5AC4B2F}">
      <dgm:prSet/>
      <dgm:spPr/>
      <dgm:t>
        <a:bodyPr/>
        <a:lstStyle/>
        <a:p>
          <a:endParaRPr lang="en-US"/>
        </a:p>
      </dgm:t>
    </dgm:pt>
    <dgm:pt modelId="{66870A3B-C00E-4912-B3EE-DEE2D4BA01FB}" type="sibTrans" cxnId="{F0D36BBA-B2C7-4585-AEEA-12D5B5AC4B2F}">
      <dgm:prSet/>
      <dgm:spPr/>
      <dgm:t>
        <a:bodyPr/>
        <a:lstStyle/>
        <a:p>
          <a:endParaRPr lang="en-US"/>
        </a:p>
      </dgm:t>
    </dgm:pt>
    <dgm:pt modelId="{D8D8EFE3-2FBC-48CB-9EB3-6074A80467D4}">
      <dgm:prSet/>
      <dgm:spPr/>
      <dgm:t>
        <a:bodyPr/>
        <a:lstStyle/>
        <a:p>
          <a:r>
            <a:rPr lang="en-US"/>
            <a:t>4. Compile &amp; train (EarlyStopping, ReduceLROnPlateau)</a:t>
          </a:r>
        </a:p>
      </dgm:t>
    </dgm:pt>
    <dgm:pt modelId="{D9FD104F-03D8-4805-AF6E-974A6590DBAA}" type="parTrans" cxnId="{F3E61FCE-FE09-479F-8FE6-BA21F143F372}">
      <dgm:prSet/>
      <dgm:spPr/>
      <dgm:t>
        <a:bodyPr/>
        <a:lstStyle/>
        <a:p>
          <a:endParaRPr lang="en-US"/>
        </a:p>
      </dgm:t>
    </dgm:pt>
    <dgm:pt modelId="{4166866D-278D-4464-A756-9FD54D840A6E}" type="sibTrans" cxnId="{F3E61FCE-FE09-479F-8FE6-BA21F143F372}">
      <dgm:prSet/>
      <dgm:spPr/>
      <dgm:t>
        <a:bodyPr/>
        <a:lstStyle/>
        <a:p>
          <a:endParaRPr lang="en-US"/>
        </a:p>
      </dgm:t>
    </dgm:pt>
    <dgm:pt modelId="{6DA6B276-F36D-4BFC-AE4B-04C7C92154F0}">
      <dgm:prSet/>
      <dgm:spPr/>
      <dgm:t>
        <a:bodyPr/>
        <a:lstStyle/>
        <a:p>
          <a:r>
            <a:rPr lang="en-US"/>
            <a:t>5. Đánh giá trên tập test</a:t>
          </a:r>
        </a:p>
      </dgm:t>
    </dgm:pt>
    <dgm:pt modelId="{C8F4B5A6-8064-4E81-8F1A-3E5C57A587D8}" type="parTrans" cxnId="{02426025-A0F6-426D-B7DA-A92F66784B97}">
      <dgm:prSet/>
      <dgm:spPr/>
      <dgm:t>
        <a:bodyPr/>
        <a:lstStyle/>
        <a:p>
          <a:endParaRPr lang="en-US"/>
        </a:p>
      </dgm:t>
    </dgm:pt>
    <dgm:pt modelId="{18C8B69F-E88B-4648-B29B-BE3CD3150918}" type="sibTrans" cxnId="{02426025-A0F6-426D-B7DA-A92F66784B97}">
      <dgm:prSet/>
      <dgm:spPr/>
      <dgm:t>
        <a:bodyPr/>
        <a:lstStyle/>
        <a:p>
          <a:endParaRPr lang="en-US"/>
        </a:p>
      </dgm:t>
    </dgm:pt>
    <dgm:pt modelId="{B749768F-DA14-4593-8ED2-A78BB60A3260}" type="pres">
      <dgm:prSet presAssocID="{057C5F69-0EC3-4A18-B49F-B32B06FB584A}" presName="root" presStyleCnt="0">
        <dgm:presLayoutVars>
          <dgm:dir/>
          <dgm:resizeHandles val="exact"/>
        </dgm:presLayoutVars>
      </dgm:prSet>
      <dgm:spPr/>
    </dgm:pt>
    <dgm:pt modelId="{AE42E55F-9654-44F9-B2E8-EDCDFCFA72B8}" type="pres">
      <dgm:prSet presAssocID="{A09E7D82-3259-47FD-B510-06D697FD1FA7}" presName="compNode" presStyleCnt="0"/>
      <dgm:spPr/>
    </dgm:pt>
    <dgm:pt modelId="{D81A4FF8-6C8C-4B47-B5F7-FB2052685B29}" type="pres">
      <dgm:prSet presAssocID="{A09E7D82-3259-47FD-B510-06D697FD1FA7}" presName="bgRect" presStyleLbl="bgShp" presStyleIdx="0" presStyleCnt="5"/>
      <dgm:spPr/>
    </dgm:pt>
    <dgm:pt modelId="{A9E555C5-F203-4B15-A412-CEB58614D6BB}" type="pres">
      <dgm:prSet presAssocID="{A09E7D82-3259-47FD-B510-06D697FD1FA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62C69DDA-179A-493B-9034-F23E38147DAA}" type="pres">
      <dgm:prSet presAssocID="{A09E7D82-3259-47FD-B510-06D697FD1FA7}" presName="spaceRect" presStyleCnt="0"/>
      <dgm:spPr/>
    </dgm:pt>
    <dgm:pt modelId="{D2A6EA2E-371C-473B-AFF1-2857898D0E73}" type="pres">
      <dgm:prSet presAssocID="{A09E7D82-3259-47FD-B510-06D697FD1FA7}" presName="parTx" presStyleLbl="revTx" presStyleIdx="0" presStyleCnt="5">
        <dgm:presLayoutVars>
          <dgm:chMax val="0"/>
          <dgm:chPref val="0"/>
        </dgm:presLayoutVars>
      </dgm:prSet>
      <dgm:spPr/>
    </dgm:pt>
    <dgm:pt modelId="{D792068E-2FA9-4500-A5A9-EA28E260DA55}" type="pres">
      <dgm:prSet presAssocID="{BE3CFF17-382C-4BB0-BD4B-F8FA15C1B717}" presName="sibTrans" presStyleCnt="0"/>
      <dgm:spPr/>
    </dgm:pt>
    <dgm:pt modelId="{86A92909-F8B2-47B9-9FE0-5431E95E1C8D}" type="pres">
      <dgm:prSet presAssocID="{0F3A2BDD-58EE-4757-A8F7-20819037D670}" presName="compNode" presStyleCnt="0"/>
      <dgm:spPr/>
    </dgm:pt>
    <dgm:pt modelId="{8975A97E-5827-44D7-A9A5-EEEBA2F9246E}" type="pres">
      <dgm:prSet presAssocID="{0F3A2BDD-58EE-4757-A8F7-20819037D670}" presName="bgRect" presStyleLbl="bgShp" presStyleIdx="1" presStyleCnt="5"/>
      <dgm:spPr/>
    </dgm:pt>
    <dgm:pt modelId="{1012C7B6-2842-4FAA-B32F-B5F57387F4FE}" type="pres">
      <dgm:prSet presAssocID="{0F3A2BDD-58EE-4757-A8F7-20819037D67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w Temperature"/>
        </a:ext>
      </dgm:extLst>
    </dgm:pt>
    <dgm:pt modelId="{E0EC9959-1D5A-4FA5-BDF9-4ACE7572E163}" type="pres">
      <dgm:prSet presAssocID="{0F3A2BDD-58EE-4757-A8F7-20819037D670}" presName="spaceRect" presStyleCnt="0"/>
      <dgm:spPr/>
    </dgm:pt>
    <dgm:pt modelId="{D99C100A-C0A9-45BF-83E2-7C85D6878577}" type="pres">
      <dgm:prSet presAssocID="{0F3A2BDD-58EE-4757-A8F7-20819037D670}" presName="parTx" presStyleLbl="revTx" presStyleIdx="1" presStyleCnt="5">
        <dgm:presLayoutVars>
          <dgm:chMax val="0"/>
          <dgm:chPref val="0"/>
        </dgm:presLayoutVars>
      </dgm:prSet>
      <dgm:spPr/>
    </dgm:pt>
    <dgm:pt modelId="{F9FB4602-3864-4A77-AC9E-EB10E2E251C5}" type="pres">
      <dgm:prSet presAssocID="{541C490E-52F1-44DF-8DFA-AFD03DEB74CB}" presName="sibTrans" presStyleCnt="0"/>
      <dgm:spPr/>
    </dgm:pt>
    <dgm:pt modelId="{E7D28C7C-EF6E-41E3-BFDA-24027D608E72}" type="pres">
      <dgm:prSet presAssocID="{D5738817-75AD-45C2-A167-C553FC53B200}" presName="compNode" presStyleCnt="0"/>
      <dgm:spPr/>
    </dgm:pt>
    <dgm:pt modelId="{2C1FC650-4CEA-4C57-838A-5AC9F2228A14}" type="pres">
      <dgm:prSet presAssocID="{D5738817-75AD-45C2-A167-C553FC53B200}" presName="bgRect" presStyleLbl="bgShp" presStyleIdx="2" presStyleCnt="5"/>
      <dgm:spPr/>
    </dgm:pt>
    <dgm:pt modelId="{5D3096AB-E1FF-4150-894D-570F1BA77519}" type="pres">
      <dgm:prSet presAssocID="{D5738817-75AD-45C2-A167-C553FC53B20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81C58E0-E674-4BF5-A049-6AEB3C4632A5}" type="pres">
      <dgm:prSet presAssocID="{D5738817-75AD-45C2-A167-C553FC53B200}" presName="spaceRect" presStyleCnt="0"/>
      <dgm:spPr/>
    </dgm:pt>
    <dgm:pt modelId="{FE6C408F-1767-4C1F-8ADA-750F96A5EFB6}" type="pres">
      <dgm:prSet presAssocID="{D5738817-75AD-45C2-A167-C553FC53B200}" presName="parTx" presStyleLbl="revTx" presStyleIdx="2" presStyleCnt="5">
        <dgm:presLayoutVars>
          <dgm:chMax val="0"/>
          <dgm:chPref val="0"/>
        </dgm:presLayoutVars>
      </dgm:prSet>
      <dgm:spPr/>
    </dgm:pt>
    <dgm:pt modelId="{3A451C92-4436-49E4-B7B1-BAF15F55D080}" type="pres">
      <dgm:prSet presAssocID="{66870A3B-C00E-4912-B3EE-DEE2D4BA01FB}" presName="sibTrans" presStyleCnt="0"/>
      <dgm:spPr/>
    </dgm:pt>
    <dgm:pt modelId="{45359C1E-7C4A-4684-8F12-E7D5C95500E7}" type="pres">
      <dgm:prSet presAssocID="{D8D8EFE3-2FBC-48CB-9EB3-6074A80467D4}" presName="compNode" presStyleCnt="0"/>
      <dgm:spPr/>
    </dgm:pt>
    <dgm:pt modelId="{3E5F5088-4862-415D-83F3-B642F0331DA7}" type="pres">
      <dgm:prSet presAssocID="{D8D8EFE3-2FBC-48CB-9EB3-6074A80467D4}" presName="bgRect" presStyleLbl="bgShp" presStyleIdx="3" presStyleCnt="5"/>
      <dgm:spPr/>
    </dgm:pt>
    <dgm:pt modelId="{44FB7DEB-3601-45E1-BCDF-85F5680F6FA7}" type="pres">
      <dgm:prSet presAssocID="{D8D8EFE3-2FBC-48CB-9EB3-6074A80467D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ierarchy"/>
        </a:ext>
      </dgm:extLst>
    </dgm:pt>
    <dgm:pt modelId="{E16AADC6-8954-4EBA-BE65-F8C1EF248ED6}" type="pres">
      <dgm:prSet presAssocID="{D8D8EFE3-2FBC-48CB-9EB3-6074A80467D4}" presName="spaceRect" presStyleCnt="0"/>
      <dgm:spPr/>
    </dgm:pt>
    <dgm:pt modelId="{3E29078E-FF02-4F2A-BD70-09CE701D2A16}" type="pres">
      <dgm:prSet presAssocID="{D8D8EFE3-2FBC-48CB-9EB3-6074A80467D4}" presName="parTx" presStyleLbl="revTx" presStyleIdx="3" presStyleCnt="5">
        <dgm:presLayoutVars>
          <dgm:chMax val="0"/>
          <dgm:chPref val="0"/>
        </dgm:presLayoutVars>
      </dgm:prSet>
      <dgm:spPr/>
    </dgm:pt>
    <dgm:pt modelId="{6C456E8B-2D56-4252-B1C1-D0EC918D0E3F}" type="pres">
      <dgm:prSet presAssocID="{4166866D-278D-4464-A756-9FD54D840A6E}" presName="sibTrans" presStyleCnt="0"/>
      <dgm:spPr/>
    </dgm:pt>
    <dgm:pt modelId="{D1DF019B-086E-4364-B3F4-34D532A7BC20}" type="pres">
      <dgm:prSet presAssocID="{6DA6B276-F36D-4BFC-AE4B-04C7C92154F0}" presName="compNode" presStyleCnt="0"/>
      <dgm:spPr/>
    </dgm:pt>
    <dgm:pt modelId="{AD2D2085-EDE5-45D4-838E-9E35C015A59A}" type="pres">
      <dgm:prSet presAssocID="{6DA6B276-F36D-4BFC-AE4B-04C7C92154F0}" presName="bgRect" presStyleLbl="bgShp" presStyleIdx="4" presStyleCnt="5"/>
      <dgm:spPr/>
    </dgm:pt>
    <dgm:pt modelId="{BEB09756-D9BD-48C8-89A1-67E73596D910}" type="pres">
      <dgm:prSet presAssocID="{6DA6B276-F36D-4BFC-AE4B-04C7C92154F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est tubes"/>
        </a:ext>
      </dgm:extLst>
    </dgm:pt>
    <dgm:pt modelId="{2CEA7824-D5D5-4F75-9AC8-C39D6669E0E4}" type="pres">
      <dgm:prSet presAssocID="{6DA6B276-F36D-4BFC-AE4B-04C7C92154F0}" presName="spaceRect" presStyleCnt="0"/>
      <dgm:spPr/>
    </dgm:pt>
    <dgm:pt modelId="{F3370092-E0FD-4AC0-8737-69C56EB6AC9A}" type="pres">
      <dgm:prSet presAssocID="{6DA6B276-F36D-4BFC-AE4B-04C7C92154F0}" presName="parTx" presStyleLbl="revTx" presStyleIdx="4" presStyleCnt="5">
        <dgm:presLayoutVars>
          <dgm:chMax val="0"/>
          <dgm:chPref val="0"/>
        </dgm:presLayoutVars>
      </dgm:prSet>
      <dgm:spPr/>
    </dgm:pt>
  </dgm:ptLst>
  <dgm:cxnLst>
    <dgm:cxn modelId="{42545F01-F2BE-4F29-8605-6478DF5BEB25}" type="presOf" srcId="{D5738817-75AD-45C2-A167-C553FC53B200}" destId="{FE6C408F-1767-4C1F-8ADA-750F96A5EFB6}" srcOrd="0" destOrd="0" presId="urn:microsoft.com/office/officeart/2018/2/layout/IconVerticalSolidList"/>
    <dgm:cxn modelId="{1DE5161F-5B3A-4A6F-9778-38C8A4CD75CE}" type="presOf" srcId="{0F3A2BDD-58EE-4757-A8F7-20819037D670}" destId="{D99C100A-C0A9-45BF-83E2-7C85D6878577}" srcOrd="0" destOrd="0" presId="urn:microsoft.com/office/officeart/2018/2/layout/IconVerticalSolidList"/>
    <dgm:cxn modelId="{02426025-A0F6-426D-B7DA-A92F66784B97}" srcId="{057C5F69-0EC3-4A18-B49F-B32B06FB584A}" destId="{6DA6B276-F36D-4BFC-AE4B-04C7C92154F0}" srcOrd="4" destOrd="0" parTransId="{C8F4B5A6-8064-4E81-8F1A-3E5C57A587D8}" sibTransId="{18C8B69F-E88B-4648-B29B-BE3CD3150918}"/>
    <dgm:cxn modelId="{37BEA360-5BBC-4066-BEFC-7436144BF7E3}" type="presOf" srcId="{D8D8EFE3-2FBC-48CB-9EB3-6074A80467D4}" destId="{3E29078E-FF02-4F2A-BD70-09CE701D2A16}" srcOrd="0" destOrd="0" presId="urn:microsoft.com/office/officeart/2018/2/layout/IconVerticalSolidList"/>
    <dgm:cxn modelId="{9EB01468-4F3F-4AF2-959D-0D5D061395E5}" type="presOf" srcId="{A09E7D82-3259-47FD-B510-06D697FD1FA7}" destId="{D2A6EA2E-371C-473B-AFF1-2857898D0E73}" srcOrd="0" destOrd="0" presId="urn:microsoft.com/office/officeart/2018/2/layout/IconVerticalSolidList"/>
    <dgm:cxn modelId="{D7F3B183-C141-404D-9A8F-44495E62A688}" type="presOf" srcId="{057C5F69-0EC3-4A18-B49F-B32B06FB584A}" destId="{B749768F-DA14-4593-8ED2-A78BB60A3260}" srcOrd="0" destOrd="0" presId="urn:microsoft.com/office/officeart/2018/2/layout/IconVerticalSolidList"/>
    <dgm:cxn modelId="{AB14BC94-31B1-48FD-B482-9E4A4B110D98}" srcId="{057C5F69-0EC3-4A18-B49F-B32B06FB584A}" destId="{A09E7D82-3259-47FD-B510-06D697FD1FA7}" srcOrd="0" destOrd="0" parTransId="{852EAB45-7E02-4881-B457-86B89BEF7F2A}" sibTransId="{BE3CFF17-382C-4BB0-BD4B-F8FA15C1B717}"/>
    <dgm:cxn modelId="{AF4090AC-669F-4741-84AC-4C57299149A8}" type="presOf" srcId="{6DA6B276-F36D-4BFC-AE4B-04C7C92154F0}" destId="{F3370092-E0FD-4AC0-8737-69C56EB6AC9A}" srcOrd="0" destOrd="0" presId="urn:microsoft.com/office/officeart/2018/2/layout/IconVerticalSolidList"/>
    <dgm:cxn modelId="{F0D36BBA-B2C7-4585-AEEA-12D5B5AC4B2F}" srcId="{057C5F69-0EC3-4A18-B49F-B32B06FB584A}" destId="{D5738817-75AD-45C2-A167-C553FC53B200}" srcOrd="2" destOrd="0" parTransId="{AE6E3769-16A2-404D-9B5B-907EFFC80DD8}" sibTransId="{66870A3B-C00E-4912-B3EE-DEE2D4BA01FB}"/>
    <dgm:cxn modelId="{F3E61FCE-FE09-479F-8FE6-BA21F143F372}" srcId="{057C5F69-0EC3-4A18-B49F-B32B06FB584A}" destId="{D8D8EFE3-2FBC-48CB-9EB3-6074A80467D4}" srcOrd="3" destOrd="0" parTransId="{D9FD104F-03D8-4805-AF6E-974A6590DBAA}" sibTransId="{4166866D-278D-4464-A756-9FD54D840A6E}"/>
    <dgm:cxn modelId="{8DA099ED-53A6-4351-AF26-55870C0C9E8A}" srcId="{057C5F69-0EC3-4A18-B49F-B32B06FB584A}" destId="{0F3A2BDD-58EE-4757-A8F7-20819037D670}" srcOrd="1" destOrd="0" parTransId="{B95CC76E-E35A-4C62-8BE0-53D3DC998D49}" sibTransId="{541C490E-52F1-44DF-8DFA-AFD03DEB74CB}"/>
    <dgm:cxn modelId="{356C8476-E8B3-446C-93E9-8FCB03F36B36}" type="presParOf" srcId="{B749768F-DA14-4593-8ED2-A78BB60A3260}" destId="{AE42E55F-9654-44F9-B2E8-EDCDFCFA72B8}" srcOrd="0" destOrd="0" presId="urn:microsoft.com/office/officeart/2018/2/layout/IconVerticalSolidList"/>
    <dgm:cxn modelId="{D6EC0461-F6FB-41B9-8C33-1CC1F58B7FE5}" type="presParOf" srcId="{AE42E55F-9654-44F9-B2E8-EDCDFCFA72B8}" destId="{D81A4FF8-6C8C-4B47-B5F7-FB2052685B29}" srcOrd="0" destOrd="0" presId="urn:microsoft.com/office/officeart/2018/2/layout/IconVerticalSolidList"/>
    <dgm:cxn modelId="{3C092BA7-A391-4C88-A6FD-98E9B111E13C}" type="presParOf" srcId="{AE42E55F-9654-44F9-B2E8-EDCDFCFA72B8}" destId="{A9E555C5-F203-4B15-A412-CEB58614D6BB}" srcOrd="1" destOrd="0" presId="urn:microsoft.com/office/officeart/2018/2/layout/IconVerticalSolidList"/>
    <dgm:cxn modelId="{A1CB843D-D54C-4C15-A02D-4E9DE2820C8A}" type="presParOf" srcId="{AE42E55F-9654-44F9-B2E8-EDCDFCFA72B8}" destId="{62C69DDA-179A-493B-9034-F23E38147DAA}" srcOrd="2" destOrd="0" presId="urn:microsoft.com/office/officeart/2018/2/layout/IconVerticalSolidList"/>
    <dgm:cxn modelId="{5F56903B-B221-4E41-A7BC-E4B9BC488506}" type="presParOf" srcId="{AE42E55F-9654-44F9-B2E8-EDCDFCFA72B8}" destId="{D2A6EA2E-371C-473B-AFF1-2857898D0E73}" srcOrd="3" destOrd="0" presId="urn:microsoft.com/office/officeart/2018/2/layout/IconVerticalSolidList"/>
    <dgm:cxn modelId="{EB4A0B25-2ACF-4404-B080-E2F5E3B46BA2}" type="presParOf" srcId="{B749768F-DA14-4593-8ED2-A78BB60A3260}" destId="{D792068E-2FA9-4500-A5A9-EA28E260DA55}" srcOrd="1" destOrd="0" presId="urn:microsoft.com/office/officeart/2018/2/layout/IconVerticalSolidList"/>
    <dgm:cxn modelId="{3DB3AA09-5984-4643-AA36-AFF92D96B087}" type="presParOf" srcId="{B749768F-DA14-4593-8ED2-A78BB60A3260}" destId="{86A92909-F8B2-47B9-9FE0-5431E95E1C8D}" srcOrd="2" destOrd="0" presId="urn:microsoft.com/office/officeart/2018/2/layout/IconVerticalSolidList"/>
    <dgm:cxn modelId="{614BB18E-901D-4585-BD7D-B374EEAD5C84}" type="presParOf" srcId="{86A92909-F8B2-47B9-9FE0-5431E95E1C8D}" destId="{8975A97E-5827-44D7-A9A5-EEEBA2F9246E}" srcOrd="0" destOrd="0" presId="urn:microsoft.com/office/officeart/2018/2/layout/IconVerticalSolidList"/>
    <dgm:cxn modelId="{3CB2F320-2F1E-4133-AA43-58298989D468}" type="presParOf" srcId="{86A92909-F8B2-47B9-9FE0-5431E95E1C8D}" destId="{1012C7B6-2842-4FAA-B32F-B5F57387F4FE}" srcOrd="1" destOrd="0" presId="urn:microsoft.com/office/officeart/2018/2/layout/IconVerticalSolidList"/>
    <dgm:cxn modelId="{2C217104-2B0A-4D50-AC4A-CD97EF5C135C}" type="presParOf" srcId="{86A92909-F8B2-47B9-9FE0-5431E95E1C8D}" destId="{E0EC9959-1D5A-4FA5-BDF9-4ACE7572E163}" srcOrd="2" destOrd="0" presId="urn:microsoft.com/office/officeart/2018/2/layout/IconVerticalSolidList"/>
    <dgm:cxn modelId="{51EAB289-B41E-4AF3-B30A-273825F356EC}" type="presParOf" srcId="{86A92909-F8B2-47B9-9FE0-5431E95E1C8D}" destId="{D99C100A-C0A9-45BF-83E2-7C85D6878577}" srcOrd="3" destOrd="0" presId="urn:microsoft.com/office/officeart/2018/2/layout/IconVerticalSolidList"/>
    <dgm:cxn modelId="{A2AE5525-E285-4868-8D52-4FE62C1E4218}" type="presParOf" srcId="{B749768F-DA14-4593-8ED2-A78BB60A3260}" destId="{F9FB4602-3864-4A77-AC9E-EB10E2E251C5}" srcOrd="3" destOrd="0" presId="urn:microsoft.com/office/officeart/2018/2/layout/IconVerticalSolidList"/>
    <dgm:cxn modelId="{4068911C-4951-48B3-8F81-9C74FCDBDA46}" type="presParOf" srcId="{B749768F-DA14-4593-8ED2-A78BB60A3260}" destId="{E7D28C7C-EF6E-41E3-BFDA-24027D608E72}" srcOrd="4" destOrd="0" presId="urn:microsoft.com/office/officeart/2018/2/layout/IconVerticalSolidList"/>
    <dgm:cxn modelId="{96C7E5C9-6CF7-4A55-A478-D8374DF56808}" type="presParOf" srcId="{E7D28C7C-EF6E-41E3-BFDA-24027D608E72}" destId="{2C1FC650-4CEA-4C57-838A-5AC9F2228A14}" srcOrd="0" destOrd="0" presId="urn:microsoft.com/office/officeart/2018/2/layout/IconVerticalSolidList"/>
    <dgm:cxn modelId="{CE5BE849-C934-4588-AA1A-753324C9EC76}" type="presParOf" srcId="{E7D28C7C-EF6E-41E3-BFDA-24027D608E72}" destId="{5D3096AB-E1FF-4150-894D-570F1BA77519}" srcOrd="1" destOrd="0" presId="urn:microsoft.com/office/officeart/2018/2/layout/IconVerticalSolidList"/>
    <dgm:cxn modelId="{28E4FE93-2498-4CFD-B9DF-635031107405}" type="presParOf" srcId="{E7D28C7C-EF6E-41E3-BFDA-24027D608E72}" destId="{681C58E0-E674-4BF5-A049-6AEB3C4632A5}" srcOrd="2" destOrd="0" presId="urn:microsoft.com/office/officeart/2018/2/layout/IconVerticalSolidList"/>
    <dgm:cxn modelId="{869CA97C-49A4-4526-8B82-4850C161662E}" type="presParOf" srcId="{E7D28C7C-EF6E-41E3-BFDA-24027D608E72}" destId="{FE6C408F-1767-4C1F-8ADA-750F96A5EFB6}" srcOrd="3" destOrd="0" presId="urn:microsoft.com/office/officeart/2018/2/layout/IconVerticalSolidList"/>
    <dgm:cxn modelId="{6D3B870E-4136-41FE-ACB8-A1D5926BE2D6}" type="presParOf" srcId="{B749768F-DA14-4593-8ED2-A78BB60A3260}" destId="{3A451C92-4436-49E4-B7B1-BAF15F55D080}" srcOrd="5" destOrd="0" presId="urn:microsoft.com/office/officeart/2018/2/layout/IconVerticalSolidList"/>
    <dgm:cxn modelId="{3453EF36-F5DD-4C42-B9AD-411FC20B4FBC}" type="presParOf" srcId="{B749768F-DA14-4593-8ED2-A78BB60A3260}" destId="{45359C1E-7C4A-4684-8F12-E7D5C95500E7}" srcOrd="6" destOrd="0" presId="urn:microsoft.com/office/officeart/2018/2/layout/IconVerticalSolidList"/>
    <dgm:cxn modelId="{196D06AE-8CCB-453C-BA52-DA7A5B5B88D6}" type="presParOf" srcId="{45359C1E-7C4A-4684-8F12-E7D5C95500E7}" destId="{3E5F5088-4862-415D-83F3-B642F0331DA7}" srcOrd="0" destOrd="0" presId="urn:microsoft.com/office/officeart/2018/2/layout/IconVerticalSolidList"/>
    <dgm:cxn modelId="{1BA033A3-6A36-49E6-ADE2-BA3FE7CC50D2}" type="presParOf" srcId="{45359C1E-7C4A-4684-8F12-E7D5C95500E7}" destId="{44FB7DEB-3601-45E1-BCDF-85F5680F6FA7}" srcOrd="1" destOrd="0" presId="urn:microsoft.com/office/officeart/2018/2/layout/IconVerticalSolidList"/>
    <dgm:cxn modelId="{82E4CFDF-4988-4BD0-B552-AE62A79B78F6}" type="presParOf" srcId="{45359C1E-7C4A-4684-8F12-E7D5C95500E7}" destId="{E16AADC6-8954-4EBA-BE65-F8C1EF248ED6}" srcOrd="2" destOrd="0" presId="urn:microsoft.com/office/officeart/2018/2/layout/IconVerticalSolidList"/>
    <dgm:cxn modelId="{C50F49A1-C3B1-465C-BBA9-53C1763DA094}" type="presParOf" srcId="{45359C1E-7C4A-4684-8F12-E7D5C95500E7}" destId="{3E29078E-FF02-4F2A-BD70-09CE701D2A16}" srcOrd="3" destOrd="0" presId="urn:microsoft.com/office/officeart/2018/2/layout/IconVerticalSolidList"/>
    <dgm:cxn modelId="{9B120D26-4F87-4671-AFED-D79F3D611E40}" type="presParOf" srcId="{B749768F-DA14-4593-8ED2-A78BB60A3260}" destId="{6C456E8B-2D56-4252-B1C1-D0EC918D0E3F}" srcOrd="7" destOrd="0" presId="urn:microsoft.com/office/officeart/2018/2/layout/IconVerticalSolidList"/>
    <dgm:cxn modelId="{1A65F184-172C-44CE-AC8A-89422F8A7FBB}" type="presParOf" srcId="{B749768F-DA14-4593-8ED2-A78BB60A3260}" destId="{D1DF019B-086E-4364-B3F4-34D532A7BC20}" srcOrd="8" destOrd="0" presId="urn:microsoft.com/office/officeart/2018/2/layout/IconVerticalSolidList"/>
    <dgm:cxn modelId="{3A3417F9-2FEF-41CC-B073-94C4FDB5AC4B}" type="presParOf" srcId="{D1DF019B-086E-4364-B3F4-34D532A7BC20}" destId="{AD2D2085-EDE5-45D4-838E-9E35C015A59A}" srcOrd="0" destOrd="0" presId="urn:microsoft.com/office/officeart/2018/2/layout/IconVerticalSolidList"/>
    <dgm:cxn modelId="{1CE3186F-4BE5-4837-8E0A-C65AFBE84257}" type="presParOf" srcId="{D1DF019B-086E-4364-B3F4-34D532A7BC20}" destId="{BEB09756-D9BD-48C8-89A1-67E73596D910}" srcOrd="1" destOrd="0" presId="urn:microsoft.com/office/officeart/2018/2/layout/IconVerticalSolidList"/>
    <dgm:cxn modelId="{75ABB262-8120-4776-B0CD-EA032ED42D0E}" type="presParOf" srcId="{D1DF019B-086E-4364-B3F4-34D532A7BC20}" destId="{2CEA7824-D5D5-4F75-9AC8-C39D6669E0E4}" srcOrd="2" destOrd="0" presId="urn:microsoft.com/office/officeart/2018/2/layout/IconVerticalSolidList"/>
    <dgm:cxn modelId="{4436DA79-C15B-4377-8A45-604358549431}" type="presParOf" srcId="{D1DF019B-086E-4364-B3F4-34D532A7BC20}" destId="{F3370092-E0FD-4AC0-8737-69C56EB6AC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D1677-D8AA-4753-9222-0E30D8DC9105}">
      <dsp:nvSpPr>
        <dsp:cNvPr id="0" name=""/>
        <dsp:cNvSpPr/>
      </dsp:nvSpPr>
      <dsp:spPr>
        <a:xfrm>
          <a:off x="0" y="0"/>
          <a:ext cx="6575690" cy="90056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defRPr cap="all"/>
          </a:pPr>
          <a:r>
            <a:rPr lang="en-US" sz="2500" kern="1200" cap="none" baseline="0" dirty="0">
              <a:latin typeface="Times New Roman" panose="02020603050405020304" pitchFamily="18" charset="0"/>
              <a:cs typeface="Times New Roman" panose="02020603050405020304" pitchFamily="18" charset="0"/>
            </a:rPr>
            <a:t>I. </a:t>
          </a:r>
          <a:r>
            <a:rPr lang="en-US" sz="2500" kern="1200" cap="none" baseline="0" dirty="0" err="1">
              <a:latin typeface="Times New Roman" panose="02020603050405020304" pitchFamily="18" charset="0"/>
              <a:cs typeface="Times New Roman" panose="02020603050405020304" pitchFamily="18" charset="0"/>
            </a:rPr>
            <a:t>Giới</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thiệu</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về</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đề</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tài</a:t>
          </a:r>
          <a:endParaRPr lang="en-US" sz="2500" kern="1200" cap="none" baseline="0" dirty="0">
            <a:latin typeface="Times New Roman" panose="02020603050405020304" pitchFamily="18" charset="0"/>
            <a:cs typeface="Times New Roman" panose="02020603050405020304" pitchFamily="18" charset="0"/>
          </a:endParaRPr>
        </a:p>
      </dsp:txBody>
      <dsp:txXfrm>
        <a:off x="26377" y="26377"/>
        <a:ext cx="5527810" cy="847812"/>
      </dsp:txXfrm>
    </dsp:sp>
    <dsp:sp modelId="{8F4AAA4F-D16E-4B98-93B7-3048F7F6CD45}">
      <dsp:nvSpPr>
        <dsp:cNvPr id="0" name=""/>
        <dsp:cNvSpPr/>
      </dsp:nvSpPr>
      <dsp:spPr>
        <a:xfrm>
          <a:off x="550714" y="1064305"/>
          <a:ext cx="6575690" cy="900566"/>
        </a:xfrm>
        <a:prstGeom prst="roundRect">
          <a:avLst>
            <a:gd name="adj" fmla="val 10000"/>
          </a:avLst>
        </a:prstGeom>
        <a:solidFill>
          <a:schemeClr val="accent2">
            <a:hueOff val="-988095"/>
            <a:satOff val="4733"/>
            <a:lumOff val="43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defRPr cap="all"/>
          </a:pPr>
          <a:r>
            <a:rPr lang="en-US" sz="2500" kern="1200" cap="none" baseline="0" dirty="0">
              <a:latin typeface="Times New Roman" panose="02020603050405020304" pitchFamily="18" charset="0"/>
              <a:cs typeface="Times New Roman" panose="02020603050405020304" pitchFamily="18" charset="0"/>
            </a:rPr>
            <a:t>II. Phương </a:t>
          </a:r>
          <a:r>
            <a:rPr lang="en-US" sz="2500" kern="1200" cap="none" baseline="0" dirty="0" err="1">
              <a:latin typeface="Times New Roman" panose="02020603050405020304" pitchFamily="18" charset="0"/>
              <a:cs typeface="Times New Roman" panose="02020603050405020304" pitchFamily="18" charset="0"/>
            </a:rPr>
            <a:t>pháp</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nghiên</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cứu</a:t>
          </a:r>
          <a:r>
            <a:rPr lang="en-US" sz="2500" kern="1200" cap="none" baseline="0" dirty="0">
              <a:latin typeface="Times New Roman" panose="02020603050405020304" pitchFamily="18" charset="0"/>
              <a:cs typeface="Times New Roman" panose="02020603050405020304" pitchFamily="18" charset="0"/>
            </a:rPr>
            <a:t> &amp; </a:t>
          </a:r>
          <a:r>
            <a:rPr lang="en-US" sz="2500" kern="1200" cap="none" baseline="0" dirty="0" err="1">
              <a:latin typeface="Times New Roman" panose="02020603050405020304" pitchFamily="18" charset="0"/>
              <a:cs typeface="Times New Roman" panose="02020603050405020304" pitchFamily="18" charset="0"/>
            </a:rPr>
            <a:t>triển</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khai</a:t>
          </a:r>
          <a:endParaRPr lang="en-US" sz="2500" kern="1200" cap="none" baseline="0" dirty="0">
            <a:latin typeface="Times New Roman" panose="02020603050405020304" pitchFamily="18" charset="0"/>
            <a:cs typeface="Times New Roman" panose="02020603050405020304" pitchFamily="18" charset="0"/>
          </a:endParaRPr>
        </a:p>
      </dsp:txBody>
      <dsp:txXfrm>
        <a:off x="577091" y="1090682"/>
        <a:ext cx="5386854" cy="847812"/>
      </dsp:txXfrm>
    </dsp:sp>
    <dsp:sp modelId="{B2CE75E0-B4D4-41C0-9B03-243DFA7797A6}">
      <dsp:nvSpPr>
        <dsp:cNvPr id="0" name=""/>
        <dsp:cNvSpPr/>
      </dsp:nvSpPr>
      <dsp:spPr>
        <a:xfrm>
          <a:off x="1093208" y="2128610"/>
          <a:ext cx="6575690" cy="900566"/>
        </a:xfrm>
        <a:prstGeom prst="roundRect">
          <a:avLst>
            <a:gd name="adj" fmla="val 10000"/>
          </a:avLst>
        </a:prstGeom>
        <a:solidFill>
          <a:schemeClr val="accent2">
            <a:hueOff val="-1976191"/>
            <a:satOff val="9467"/>
            <a:lumOff val="875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defRPr cap="all"/>
          </a:pPr>
          <a:r>
            <a:rPr lang="en-US" sz="2500" kern="1200" cap="none" baseline="0" dirty="0">
              <a:latin typeface="Times New Roman" panose="02020603050405020304" pitchFamily="18" charset="0"/>
              <a:cs typeface="Times New Roman" panose="02020603050405020304" pitchFamily="18" charset="0"/>
            </a:rPr>
            <a:t>III. </a:t>
          </a:r>
          <a:r>
            <a:rPr lang="en-US" sz="2500" kern="1200" cap="none" baseline="0" dirty="0" err="1">
              <a:latin typeface="Times New Roman" panose="02020603050405020304" pitchFamily="18" charset="0"/>
              <a:cs typeface="Times New Roman" panose="02020603050405020304" pitchFamily="18" charset="0"/>
            </a:rPr>
            <a:t>Kết</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quả</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thu</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được</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của</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mô</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hình</a:t>
          </a:r>
          <a:endParaRPr lang="en-US" sz="2500" kern="1200" cap="none" baseline="0" dirty="0">
            <a:latin typeface="Times New Roman" panose="02020603050405020304" pitchFamily="18" charset="0"/>
            <a:cs typeface="Times New Roman" panose="02020603050405020304" pitchFamily="18" charset="0"/>
          </a:endParaRPr>
        </a:p>
      </dsp:txBody>
      <dsp:txXfrm>
        <a:off x="1119585" y="2154987"/>
        <a:ext cx="5395074" cy="847812"/>
      </dsp:txXfrm>
    </dsp:sp>
    <dsp:sp modelId="{208D0373-5C03-4C15-911A-01C1E6A3F3B5}">
      <dsp:nvSpPr>
        <dsp:cNvPr id="0" name=""/>
        <dsp:cNvSpPr/>
      </dsp:nvSpPr>
      <dsp:spPr>
        <a:xfrm>
          <a:off x="1643922" y="3192915"/>
          <a:ext cx="6575690" cy="900566"/>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defRPr cap="all"/>
          </a:pPr>
          <a:r>
            <a:rPr lang="en-US" sz="2500" kern="1200" cap="none" baseline="0" dirty="0">
              <a:latin typeface="Times New Roman" panose="02020603050405020304" pitchFamily="18" charset="0"/>
              <a:cs typeface="Times New Roman" panose="02020603050405020304" pitchFamily="18" charset="0"/>
            </a:rPr>
            <a:t>IV. </a:t>
          </a:r>
          <a:r>
            <a:rPr lang="en-US" sz="2500" kern="1200" cap="none" baseline="0" dirty="0" err="1">
              <a:latin typeface="Times New Roman" panose="02020603050405020304" pitchFamily="18" charset="0"/>
              <a:cs typeface="Times New Roman" panose="02020603050405020304" pitchFamily="18" charset="0"/>
            </a:rPr>
            <a:t>Triển</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khai</a:t>
          </a:r>
          <a:r>
            <a:rPr lang="en-US" sz="2500" kern="1200" cap="none" baseline="0" dirty="0">
              <a:latin typeface="Times New Roman" panose="02020603050405020304" pitchFamily="18" charset="0"/>
              <a:cs typeface="Times New Roman" panose="02020603050405020304" pitchFamily="18" charset="0"/>
            </a:rPr>
            <a:t> </a:t>
          </a:r>
          <a:r>
            <a:rPr lang="en-US" sz="2500" kern="1200" cap="none" baseline="0" dirty="0" err="1">
              <a:latin typeface="Times New Roman" panose="02020603050405020304" pitchFamily="18" charset="0"/>
              <a:cs typeface="Times New Roman" panose="02020603050405020304" pitchFamily="18" charset="0"/>
            </a:rPr>
            <a:t>trên</a:t>
          </a:r>
          <a:r>
            <a:rPr lang="en-US" sz="2500" kern="1200" cap="none" baseline="0" dirty="0">
              <a:latin typeface="Times New Roman" panose="02020603050405020304" pitchFamily="18" charset="0"/>
              <a:cs typeface="Times New Roman" panose="02020603050405020304" pitchFamily="18" charset="0"/>
            </a:rPr>
            <a:t> Kaggle Notebook</a:t>
          </a:r>
        </a:p>
      </dsp:txBody>
      <dsp:txXfrm>
        <a:off x="1670299" y="3219292"/>
        <a:ext cx="5386854" cy="847812"/>
      </dsp:txXfrm>
    </dsp:sp>
    <dsp:sp modelId="{D7EEBE97-21BC-4D85-B35E-6DE8A7BC666D}">
      <dsp:nvSpPr>
        <dsp:cNvPr id="0" name=""/>
        <dsp:cNvSpPr/>
      </dsp:nvSpPr>
      <dsp:spPr>
        <a:xfrm>
          <a:off x="5990322" y="689751"/>
          <a:ext cx="585367" cy="58536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122030" y="689751"/>
        <a:ext cx="321951" cy="440489"/>
      </dsp:txXfrm>
    </dsp:sp>
    <dsp:sp modelId="{196318C4-31FD-45FA-B8E4-BEABCFB665EB}">
      <dsp:nvSpPr>
        <dsp:cNvPr id="0" name=""/>
        <dsp:cNvSpPr/>
      </dsp:nvSpPr>
      <dsp:spPr>
        <a:xfrm>
          <a:off x="6541036" y="1754057"/>
          <a:ext cx="585367" cy="585367"/>
        </a:xfrm>
        <a:prstGeom prst="downArrow">
          <a:avLst>
            <a:gd name="adj1" fmla="val 55000"/>
            <a:gd name="adj2" fmla="val 45000"/>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SG" sz="2800" kern="1200"/>
        </a:p>
      </dsp:txBody>
      <dsp:txXfrm>
        <a:off x="6672744" y="1754057"/>
        <a:ext cx="321951" cy="440489"/>
      </dsp:txXfrm>
    </dsp:sp>
    <dsp:sp modelId="{6A6E02D3-CFAA-4807-8727-2C7898986D1C}">
      <dsp:nvSpPr>
        <dsp:cNvPr id="0" name=""/>
        <dsp:cNvSpPr/>
      </dsp:nvSpPr>
      <dsp:spPr>
        <a:xfrm>
          <a:off x="7083531" y="2818362"/>
          <a:ext cx="585367" cy="585367"/>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SG" sz="2800" kern="1200"/>
        </a:p>
      </dsp:txBody>
      <dsp:txXfrm>
        <a:off x="7215239" y="2818362"/>
        <a:ext cx="321951" cy="4404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A4FF8-6C8C-4B47-B5F7-FB2052685B29}">
      <dsp:nvSpPr>
        <dsp:cNvPr id="0" name=""/>
        <dsp:cNvSpPr/>
      </dsp:nvSpPr>
      <dsp:spPr>
        <a:xfrm>
          <a:off x="0" y="3032"/>
          <a:ext cx="6447234" cy="6458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E555C5-F203-4B15-A412-CEB58614D6BB}">
      <dsp:nvSpPr>
        <dsp:cNvPr id="0" name=""/>
        <dsp:cNvSpPr/>
      </dsp:nvSpPr>
      <dsp:spPr>
        <a:xfrm>
          <a:off x="195383" y="148358"/>
          <a:ext cx="355242" cy="355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A6EA2E-371C-473B-AFF1-2857898D0E73}">
      <dsp:nvSpPr>
        <dsp:cNvPr id="0" name=""/>
        <dsp:cNvSpPr/>
      </dsp:nvSpPr>
      <dsp:spPr>
        <a:xfrm>
          <a:off x="746009" y="3032"/>
          <a:ext cx="5701224"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844550">
            <a:lnSpc>
              <a:spcPct val="90000"/>
            </a:lnSpc>
            <a:spcBef>
              <a:spcPct val="0"/>
            </a:spcBef>
            <a:spcAft>
              <a:spcPct val="35000"/>
            </a:spcAft>
            <a:buNone/>
          </a:pPr>
          <a:r>
            <a:rPr lang="en-US" sz="1900" kern="1200" dirty="0"/>
            <a:t>1. </a:t>
          </a:r>
          <a:r>
            <a:rPr lang="en-US" sz="1900" kern="1200" dirty="0" err="1"/>
            <a:t>Tiền</a:t>
          </a:r>
          <a:r>
            <a:rPr lang="en-US" sz="1900" kern="1200" dirty="0"/>
            <a:t> </a:t>
          </a:r>
          <a:r>
            <a:rPr lang="en-US" sz="1900" kern="1200" dirty="0" err="1"/>
            <a:t>xử</a:t>
          </a:r>
          <a:r>
            <a:rPr lang="en-US" sz="1900" kern="1200" dirty="0"/>
            <a:t> </a:t>
          </a:r>
          <a:r>
            <a:rPr lang="en-US" sz="1900" kern="1200" dirty="0" err="1"/>
            <a:t>lý</a:t>
          </a:r>
          <a:r>
            <a:rPr lang="en-US" sz="1900" kern="1200" dirty="0"/>
            <a:t> &amp; augmentation</a:t>
          </a:r>
        </a:p>
      </dsp:txBody>
      <dsp:txXfrm>
        <a:off x="746009" y="3032"/>
        <a:ext cx="5701224" cy="645895"/>
      </dsp:txXfrm>
    </dsp:sp>
    <dsp:sp modelId="{8975A97E-5827-44D7-A9A5-EEEBA2F9246E}">
      <dsp:nvSpPr>
        <dsp:cNvPr id="0" name=""/>
        <dsp:cNvSpPr/>
      </dsp:nvSpPr>
      <dsp:spPr>
        <a:xfrm>
          <a:off x="0" y="810401"/>
          <a:ext cx="6447234" cy="6458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12C7B6-2842-4FAA-B32F-B5F57387F4FE}">
      <dsp:nvSpPr>
        <dsp:cNvPr id="0" name=""/>
        <dsp:cNvSpPr/>
      </dsp:nvSpPr>
      <dsp:spPr>
        <a:xfrm>
          <a:off x="195383" y="955728"/>
          <a:ext cx="355242" cy="355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9C100A-C0A9-45BF-83E2-7C85D6878577}">
      <dsp:nvSpPr>
        <dsp:cNvPr id="0" name=""/>
        <dsp:cNvSpPr/>
      </dsp:nvSpPr>
      <dsp:spPr>
        <a:xfrm>
          <a:off x="746009" y="810401"/>
          <a:ext cx="5701224"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844550">
            <a:lnSpc>
              <a:spcPct val="90000"/>
            </a:lnSpc>
            <a:spcBef>
              <a:spcPct val="0"/>
            </a:spcBef>
            <a:spcAft>
              <a:spcPct val="35000"/>
            </a:spcAft>
            <a:buNone/>
          </a:pPr>
          <a:r>
            <a:rPr lang="en-US" sz="1900" kern="1200"/>
            <a:t>2. Load ResNet50 pretrained, freeze các lớp đầu</a:t>
          </a:r>
        </a:p>
      </dsp:txBody>
      <dsp:txXfrm>
        <a:off x="746009" y="810401"/>
        <a:ext cx="5701224" cy="645895"/>
      </dsp:txXfrm>
    </dsp:sp>
    <dsp:sp modelId="{2C1FC650-4CEA-4C57-838A-5AC9F2228A14}">
      <dsp:nvSpPr>
        <dsp:cNvPr id="0" name=""/>
        <dsp:cNvSpPr/>
      </dsp:nvSpPr>
      <dsp:spPr>
        <a:xfrm>
          <a:off x="0" y="1617770"/>
          <a:ext cx="6447234" cy="6458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3096AB-E1FF-4150-894D-570F1BA77519}">
      <dsp:nvSpPr>
        <dsp:cNvPr id="0" name=""/>
        <dsp:cNvSpPr/>
      </dsp:nvSpPr>
      <dsp:spPr>
        <a:xfrm>
          <a:off x="195383" y="1763097"/>
          <a:ext cx="355242" cy="3552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E6C408F-1767-4C1F-8ADA-750F96A5EFB6}">
      <dsp:nvSpPr>
        <dsp:cNvPr id="0" name=""/>
        <dsp:cNvSpPr/>
      </dsp:nvSpPr>
      <dsp:spPr>
        <a:xfrm>
          <a:off x="746009" y="1617770"/>
          <a:ext cx="5701224"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844550">
            <a:lnSpc>
              <a:spcPct val="90000"/>
            </a:lnSpc>
            <a:spcBef>
              <a:spcPct val="0"/>
            </a:spcBef>
            <a:spcAft>
              <a:spcPct val="35000"/>
            </a:spcAft>
            <a:buNone/>
          </a:pPr>
          <a:r>
            <a:rPr lang="en-US" sz="1900" kern="1200"/>
            <a:t>3. Thêm Dense + Dropout cho 2 lớp output</a:t>
          </a:r>
        </a:p>
      </dsp:txBody>
      <dsp:txXfrm>
        <a:off x="746009" y="1617770"/>
        <a:ext cx="5701224" cy="645895"/>
      </dsp:txXfrm>
    </dsp:sp>
    <dsp:sp modelId="{3E5F5088-4862-415D-83F3-B642F0331DA7}">
      <dsp:nvSpPr>
        <dsp:cNvPr id="0" name=""/>
        <dsp:cNvSpPr/>
      </dsp:nvSpPr>
      <dsp:spPr>
        <a:xfrm>
          <a:off x="0" y="2425140"/>
          <a:ext cx="6447234" cy="6458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FB7DEB-3601-45E1-BCDF-85F5680F6FA7}">
      <dsp:nvSpPr>
        <dsp:cNvPr id="0" name=""/>
        <dsp:cNvSpPr/>
      </dsp:nvSpPr>
      <dsp:spPr>
        <a:xfrm>
          <a:off x="195383" y="2570466"/>
          <a:ext cx="355242" cy="3552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E29078E-FF02-4F2A-BD70-09CE701D2A16}">
      <dsp:nvSpPr>
        <dsp:cNvPr id="0" name=""/>
        <dsp:cNvSpPr/>
      </dsp:nvSpPr>
      <dsp:spPr>
        <a:xfrm>
          <a:off x="746009" y="2425140"/>
          <a:ext cx="5701224"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844550">
            <a:lnSpc>
              <a:spcPct val="90000"/>
            </a:lnSpc>
            <a:spcBef>
              <a:spcPct val="0"/>
            </a:spcBef>
            <a:spcAft>
              <a:spcPct val="35000"/>
            </a:spcAft>
            <a:buNone/>
          </a:pPr>
          <a:r>
            <a:rPr lang="en-US" sz="1900" kern="1200"/>
            <a:t>4. Compile &amp; train (EarlyStopping, ReduceLROnPlateau)</a:t>
          </a:r>
        </a:p>
      </dsp:txBody>
      <dsp:txXfrm>
        <a:off x="746009" y="2425140"/>
        <a:ext cx="5701224" cy="645895"/>
      </dsp:txXfrm>
    </dsp:sp>
    <dsp:sp modelId="{AD2D2085-EDE5-45D4-838E-9E35C015A59A}">
      <dsp:nvSpPr>
        <dsp:cNvPr id="0" name=""/>
        <dsp:cNvSpPr/>
      </dsp:nvSpPr>
      <dsp:spPr>
        <a:xfrm>
          <a:off x="0" y="3232509"/>
          <a:ext cx="6447234" cy="6458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B09756-D9BD-48C8-89A1-67E73596D910}">
      <dsp:nvSpPr>
        <dsp:cNvPr id="0" name=""/>
        <dsp:cNvSpPr/>
      </dsp:nvSpPr>
      <dsp:spPr>
        <a:xfrm>
          <a:off x="195383" y="3377835"/>
          <a:ext cx="355242" cy="3552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3370092-E0FD-4AC0-8737-69C56EB6AC9A}">
      <dsp:nvSpPr>
        <dsp:cNvPr id="0" name=""/>
        <dsp:cNvSpPr/>
      </dsp:nvSpPr>
      <dsp:spPr>
        <a:xfrm>
          <a:off x="746009" y="3232509"/>
          <a:ext cx="5701224"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844550">
            <a:lnSpc>
              <a:spcPct val="90000"/>
            </a:lnSpc>
            <a:spcBef>
              <a:spcPct val="0"/>
            </a:spcBef>
            <a:spcAft>
              <a:spcPct val="35000"/>
            </a:spcAft>
            <a:buNone/>
          </a:pPr>
          <a:r>
            <a:rPr lang="en-US" sz="1900" kern="1200"/>
            <a:t>5. Đánh giá trên tập test</a:t>
          </a:r>
        </a:p>
      </dsp:txBody>
      <dsp:txXfrm>
        <a:off x="746009" y="3232509"/>
        <a:ext cx="5701224" cy="6458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2867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1669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53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9956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117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167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005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65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327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590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65157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8905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33373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1873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3977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148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11/30/2025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5825488"/>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drive/folders/1P8jV1OOCrvt2VOVmOt5_RDKhry2nTfQ-?usp=sharing" TargetMode="External"/><Relationship Id="rId2" Type="http://schemas.openxmlformats.org/officeDocument/2006/relationships/hyperlink" Target="https://www.kaggle.com/datasets/trolukovich/food5k-image-datase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iWX9pucgM5IcUB0wUUXJ9XkYhk01Zz7t/view?usp=sharing" TargetMode="External"/><Relationship Id="rId2" Type="http://schemas.openxmlformats.org/officeDocument/2006/relationships/hyperlink" Target="https://www.kaggle.com/code/kienlytran/food-5k-feature-extraction-with-resnet50-kera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974921"/>
            <a:ext cx="6347713" cy="2679272"/>
          </a:xfrm>
        </p:spPr>
        <p:txBody>
          <a:bodyPr>
            <a:normAutofit/>
          </a:bodyPr>
          <a:lstStyle/>
          <a:p>
            <a:r>
              <a:rPr lang="en-SG" sz="5400" dirty="0">
                <a:latin typeface="Times New Roman" panose="02020603050405020304" pitchFamily="18" charset="0"/>
                <a:cs typeface="Times New Roman" panose="02020603050405020304" pitchFamily="18" charset="0"/>
              </a:rPr>
              <a:t>Food and non-Food classification</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0551" y="5969127"/>
            <a:ext cx="6347714" cy="1818684"/>
          </a:xfrm>
        </p:spPr>
        <p:txBody>
          <a:bodyPr/>
          <a:lstStyle/>
          <a:p>
            <a:pPr marL="0" indent="0" algn="ctr">
              <a:buNone/>
            </a:pPr>
            <a:r>
              <a:rPr dirty="0">
                <a:latin typeface="Times New Roman" panose="02020603050405020304" pitchFamily="18" charset="0"/>
                <a:cs typeface="Times New Roman" panose="02020603050405020304" pitchFamily="18" charset="0"/>
              </a:rPr>
              <a:t>ĐH Quốc </a:t>
            </a:r>
            <a:r>
              <a:rPr dirty="0" err="1">
                <a:latin typeface="Times New Roman" panose="02020603050405020304" pitchFamily="18" charset="0"/>
                <a:cs typeface="Times New Roman" panose="02020603050405020304" pitchFamily="18" charset="0"/>
              </a:rPr>
              <a:t>gia</a:t>
            </a:r>
            <a:r>
              <a:rPr dirty="0">
                <a:latin typeface="Times New Roman" panose="02020603050405020304" pitchFamily="18" charset="0"/>
                <a:cs typeface="Times New Roman" panose="02020603050405020304" pitchFamily="18" charset="0"/>
              </a:rPr>
              <a:t> Hà </a:t>
            </a:r>
            <a:r>
              <a:rPr dirty="0" err="1">
                <a:latin typeface="Times New Roman" panose="02020603050405020304" pitchFamily="18" charset="0"/>
                <a:cs typeface="Times New Roman" panose="02020603050405020304" pitchFamily="18" charset="0"/>
              </a:rPr>
              <a:t>Nội</a:t>
            </a:r>
            <a:r>
              <a:rPr dirty="0">
                <a:latin typeface="Times New Roman" panose="02020603050405020304" pitchFamily="18" charset="0"/>
                <a:cs typeface="Times New Roman" panose="02020603050405020304" pitchFamily="18" charset="0"/>
              </a:rPr>
              <a:t> - Trường ĐH Khoa </a:t>
            </a:r>
            <a:r>
              <a:rPr dirty="0" err="1">
                <a:latin typeface="Times New Roman" panose="02020603050405020304" pitchFamily="18" charset="0"/>
                <a:cs typeface="Times New Roman" panose="02020603050405020304" pitchFamily="18" charset="0"/>
              </a:rPr>
              <a:t>học</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Tự</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nhiên</a:t>
            </a:r>
            <a:endParaRPr dirty="0">
              <a:latin typeface="Times New Roman" panose="02020603050405020304" pitchFamily="18" charset="0"/>
              <a:cs typeface="Times New Roman" panose="02020603050405020304" pitchFamily="18" charset="0"/>
            </a:endParaRPr>
          </a:p>
          <a:p>
            <a:pPr marL="0" indent="0" algn="ctr">
              <a:buNone/>
            </a:pPr>
            <a:r>
              <a:rPr lang="en-SG" dirty="0">
                <a:latin typeface="Times New Roman" panose="02020603050405020304" pitchFamily="18" charset="0"/>
                <a:cs typeface="Times New Roman" panose="02020603050405020304" pitchFamily="18" charset="0"/>
              </a:rPr>
              <a:t>H</a:t>
            </a:r>
            <a:r>
              <a:rPr dirty="0" err="1">
                <a:latin typeface="Times New Roman" panose="02020603050405020304" pitchFamily="18" charset="0"/>
                <a:cs typeface="Times New Roman" panose="02020603050405020304" pitchFamily="18" charset="0"/>
              </a:rPr>
              <a:t>ọc</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kỳ</a:t>
            </a:r>
            <a:r>
              <a:rPr dirty="0">
                <a:latin typeface="Times New Roman" panose="02020603050405020304" pitchFamily="18" charset="0"/>
                <a:cs typeface="Times New Roman" panose="02020603050405020304" pitchFamily="18" charset="0"/>
              </a:rPr>
              <a:t> 1, </a:t>
            </a:r>
            <a:r>
              <a:rPr dirty="0" err="1">
                <a:latin typeface="Times New Roman" panose="02020603050405020304" pitchFamily="18" charset="0"/>
                <a:cs typeface="Times New Roman" panose="02020603050405020304" pitchFamily="18" charset="0"/>
              </a:rPr>
              <a:t>Năm</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học</a:t>
            </a:r>
            <a:r>
              <a:rPr dirty="0">
                <a:latin typeface="Times New Roman" panose="02020603050405020304" pitchFamily="18" charset="0"/>
                <a:cs typeface="Times New Roman" panose="02020603050405020304" pitchFamily="18" charset="0"/>
              </a:rPr>
              <a:t>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7A662-9FFB-A839-0E81-AAD35234B350}"/>
              </a:ext>
            </a:extLst>
          </p:cNvPr>
          <p:cNvSpPr>
            <a:spLocks noGrp="1"/>
          </p:cNvSpPr>
          <p:nvPr>
            <p:ph type="title"/>
          </p:nvPr>
        </p:nvSpPr>
        <p:spPr/>
        <p:txBody>
          <a:bodyPr/>
          <a:lstStyle/>
          <a:p>
            <a:r>
              <a:rPr lang="en-SG" dirty="0"/>
              <a:t>Thông tin </a:t>
            </a:r>
            <a:r>
              <a:rPr lang="en-SG" dirty="0" err="1"/>
              <a:t>dự</a:t>
            </a:r>
            <a:r>
              <a:rPr lang="en-SG" dirty="0"/>
              <a:t> </a:t>
            </a:r>
            <a:r>
              <a:rPr lang="en-SG" dirty="0" err="1"/>
              <a:t>án</a:t>
            </a:r>
            <a:endParaRPr lang="en-SG" dirty="0"/>
          </a:p>
        </p:txBody>
      </p:sp>
      <p:graphicFrame>
        <p:nvGraphicFramePr>
          <p:cNvPr id="6" name="Content Placeholder 5">
            <a:extLst>
              <a:ext uri="{FF2B5EF4-FFF2-40B4-BE49-F238E27FC236}">
                <a16:creationId xmlns:a16="http://schemas.microsoft.com/office/drawing/2014/main" id="{C3A24303-E07C-EAC1-2FF7-F0CC1F806EDF}"/>
              </a:ext>
            </a:extLst>
          </p:cNvPr>
          <p:cNvGraphicFramePr>
            <a:graphicFrameLocks noGrp="1"/>
          </p:cNvGraphicFramePr>
          <p:nvPr>
            <p:ph idx="1"/>
            <p:extLst>
              <p:ext uri="{D42A27DB-BD31-4B8C-83A1-F6EECF244321}">
                <p14:modId xmlns:p14="http://schemas.microsoft.com/office/powerpoint/2010/main" val="2841693789"/>
              </p:ext>
            </p:extLst>
          </p:nvPr>
        </p:nvGraphicFramePr>
        <p:xfrm>
          <a:off x="633830" y="3429000"/>
          <a:ext cx="7852624" cy="3319316"/>
        </p:xfrm>
        <a:graphic>
          <a:graphicData uri="http://schemas.openxmlformats.org/drawingml/2006/table">
            <a:tbl>
              <a:tblPr>
                <a:tableStyleId>{793D81CF-94F2-401A-BA57-92F5A7B2D0C5}</a:tableStyleId>
              </a:tblPr>
              <a:tblGrid>
                <a:gridCol w="1933798">
                  <a:extLst>
                    <a:ext uri="{9D8B030D-6E8A-4147-A177-3AD203B41FA5}">
                      <a16:colId xmlns:a16="http://schemas.microsoft.com/office/drawing/2014/main" val="3802698120"/>
                    </a:ext>
                  </a:extLst>
                </a:gridCol>
                <a:gridCol w="1394042">
                  <a:extLst>
                    <a:ext uri="{9D8B030D-6E8A-4147-A177-3AD203B41FA5}">
                      <a16:colId xmlns:a16="http://schemas.microsoft.com/office/drawing/2014/main" val="1590017440"/>
                    </a:ext>
                  </a:extLst>
                </a:gridCol>
                <a:gridCol w="1901133">
                  <a:extLst>
                    <a:ext uri="{9D8B030D-6E8A-4147-A177-3AD203B41FA5}">
                      <a16:colId xmlns:a16="http://schemas.microsoft.com/office/drawing/2014/main" val="175473539"/>
                    </a:ext>
                  </a:extLst>
                </a:gridCol>
                <a:gridCol w="2623651">
                  <a:extLst>
                    <a:ext uri="{9D8B030D-6E8A-4147-A177-3AD203B41FA5}">
                      <a16:colId xmlns:a16="http://schemas.microsoft.com/office/drawing/2014/main" val="2315928871"/>
                    </a:ext>
                  </a:extLst>
                </a:gridCol>
              </a:tblGrid>
              <a:tr h="407554">
                <a:tc>
                  <a:txBody>
                    <a:bodyPr/>
                    <a:lstStyle/>
                    <a:p>
                      <a:pPr algn="l">
                        <a:lnSpc>
                          <a:spcPts val="1875"/>
                        </a:lnSpc>
                        <a:buNone/>
                      </a:pPr>
                      <a:r>
                        <a:rPr lang="en-SG" sz="1600" b="0">
                          <a:effectLst/>
                        </a:rPr>
                        <a:t>Họ tên</a:t>
                      </a:r>
                      <a:endParaRPr lang="en-SG" sz="1600" b="0">
                        <a:effectLst/>
                        <a:latin typeface="+mn-lt"/>
                      </a:endParaRPr>
                    </a:p>
                  </a:txBody>
                  <a:tcPr marR="133004" marT="83127" marB="83127" anchor="ctr"/>
                </a:tc>
                <a:tc>
                  <a:txBody>
                    <a:bodyPr/>
                    <a:lstStyle/>
                    <a:p>
                      <a:pPr algn="l">
                        <a:lnSpc>
                          <a:spcPts val="1875"/>
                        </a:lnSpc>
                        <a:buNone/>
                      </a:pPr>
                      <a:r>
                        <a:rPr lang="en-SG" sz="1600" b="0">
                          <a:effectLst/>
                        </a:rPr>
                        <a:t>Mã sinh viên</a:t>
                      </a:r>
                      <a:endParaRPr lang="en-SG" sz="1600" b="0">
                        <a:effectLst/>
                        <a:latin typeface="+mn-lt"/>
                      </a:endParaRPr>
                    </a:p>
                  </a:txBody>
                  <a:tcPr marL="133004" marR="133004" marT="83127" marB="83127" anchor="ctr"/>
                </a:tc>
                <a:tc>
                  <a:txBody>
                    <a:bodyPr/>
                    <a:lstStyle/>
                    <a:p>
                      <a:pPr algn="l">
                        <a:lnSpc>
                          <a:spcPts val="1875"/>
                        </a:lnSpc>
                        <a:buNone/>
                      </a:pPr>
                      <a:r>
                        <a:rPr lang="en-SG" sz="1600" b="0" dirty="0" err="1">
                          <a:effectLst/>
                        </a:rPr>
                        <a:t>Tên</a:t>
                      </a:r>
                      <a:r>
                        <a:rPr lang="en-SG" sz="1600" b="0" dirty="0">
                          <a:effectLst/>
                        </a:rPr>
                        <a:t> GitHub</a:t>
                      </a:r>
                      <a:endParaRPr lang="en-SG" sz="1600" b="0" dirty="0">
                        <a:effectLst/>
                        <a:latin typeface="+mn-lt"/>
                      </a:endParaRPr>
                    </a:p>
                  </a:txBody>
                  <a:tcPr marL="133004" marR="133004" marT="83127" marB="83127" anchor="ctr"/>
                </a:tc>
                <a:tc>
                  <a:txBody>
                    <a:bodyPr/>
                    <a:lstStyle/>
                    <a:p>
                      <a:pPr algn="l">
                        <a:lnSpc>
                          <a:spcPts val="1875"/>
                        </a:lnSpc>
                        <a:buNone/>
                      </a:pPr>
                      <a:r>
                        <a:rPr lang="en-SG" sz="1600" b="0" dirty="0" err="1">
                          <a:effectLst/>
                        </a:rPr>
                        <a:t>Đóng</a:t>
                      </a:r>
                      <a:r>
                        <a:rPr lang="en-SG" sz="1600" b="0" dirty="0">
                          <a:effectLst/>
                        </a:rPr>
                        <a:t> </a:t>
                      </a:r>
                      <a:r>
                        <a:rPr lang="en-SG" sz="1600" b="0" dirty="0" err="1">
                          <a:effectLst/>
                        </a:rPr>
                        <a:t>góp</a:t>
                      </a:r>
                      <a:endParaRPr lang="en-SG" sz="1600" b="0" dirty="0">
                        <a:effectLst/>
                        <a:latin typeface="+mn-lt"/>
                      </a:endParaRPr>
                    </a:p>
                  </a:txBody>
                  <a:tcPr marL="133004" marR="133004" marT="83127" marB="83127" anchor="ctr"/>
                </a:tc>
                <a:extLst>
                  <a:ext uri="{0D108BD9-81ED-4DB2-BD59-A6C34878D82A}">
                    <a16:rowId xmlns:a16="http://schemas.microsoft.com/office/drawing/2014/main" val="3914103683"/>
                  </a:ext>
                </a:extLst>
              </a:tr>
              <a:tr h="890154">
                <a:tc>
                  <a:txBody>
                    <a:bodyPr/>
                    <a:lstStyle/>
                    <a:p>
                      <a:pPr>
                        <a:lnSpc>
                          <a:spcPts val="1875"/>
                        </a:lnSpc>
                        <a:buNone/>
                      </a:pPr>
                      <a:r>
                        <a:rPr lang="en-SG" sz="1600" b="0">
                          <a:effectLst/>
                        </a:rPr>
                        <a:t>Lý Trần Kiên</a:t>
                      </a:r>
                      <a:endParaRPr lang="en-SG" sz="1600" b="0">
                        <a:effectLst/>
                        <a:latin typeface="+mn-lt"/>
                      </a:endParaRPr>
                    </a:p>
                  </a:txBody>
                  <a:tcPr marR="133004" marT="83127" marB="83127" anchor="ctr"/>
                </a:tc>
                <a:tc>
                  <a:txBody>
                    <a:bodyPr/>
                    <a:lstStyle/>
                    <a:p>
                      <a:pPr>
                        <a:lnSpc>
                          <a:spcPts val="1875"/>
                        </a:lnSpc>
                        <a:buNone/>
                      </a:pPr>
                      <a:r>
                        <a:rPr lang="en-SG" sz="1600" b="0" dirty="0">
                          <a:effectLst/>
                        </a:rPr>
                        <a:t>23001529</a:t>
                      </a:r>
                      <a:endParaRPr lang="en-SG" sz="1600" b="0" dirty="0">
                        <a:effectLst/>
                        <a:latin typeface="+mn-lt"/>
                      </a:endParaRPr>
                    </a:p>
                  </a:txBody>
                  <a:tcPr marL="133004" marR="133004" marT="83127" marB="83127" anchor="ctr"/>
                </a:tc>
                <a:tc>
                  <a:txBody>
                    <a:bodyPr/>
                    <a:lstStyle/>
                    <a:p>
                      <a:pPr>
                        <a:lnSpc>
                          <a:spcPts val="1875"/>
                        </a:lnSpc>
                        <a:buNone/>
                      </a:pPr>
                      <a:r>
                        <a:rPr lang="en-SG" sz="1600" b="0" dirty="0">
                          <a:effectLst/>
                        </a:rPr>
                        <a:t>Neikien</a:t>
                      </a:r>
                      <a:endParaRPr lang="en-SG" sz="1600" b="0" dirty="0">
                        <a:effectLst/>
                        <a:latin typeface="+mn-lt"/>
                      </a:endParaRPr>
                    </a:p>
                  </a:txBody>
                  <a:tcPr marL="133004" marR="133004" marT="83127" marB="83127" anchor="ctr"/>
                </a:tc>
                <a:tc>
                  <a:txBody>
                    <a:bodyPr/>
                    <a:lstStyle/>
                    <a:p>
                      <a:pPr>
                        <a:lnSpc>
                          <a:spcPts val="1875"/>
                        </a:lnSpc>
                        <a:buNone/>
                      </a:pPr>
                      <a:r>
                        <a:rPr lang="vi-VN" sz="1600" b="0" dirty="0">
                          <a:effectLst/>
                        </a:rPr>
                        <a:t>Hoàn thiện chương trình, phân công</a:t>
                      </a:r>
                      <a:endParaRPr lang="vi-VN" sz="1600" b="0" dirty="0">
                        <a:effectLst/>
                        <a:latin typeface="+mn-lt"/>
                      </a:endParaRPr>
                    </a:p>
                  </a:txBody>
                  <a:tcPr marL="133004" marT="83127" marB="83127" anchor="ctr"/>
                </a:tc>
                <a:extLst>
                  <a:ext uri="{0D108BD9-81ED-4DB2-BD59-A6C34878D82A}">
                    <a16:rowId xmlns:a16="http://schemas.microsoft.com/office/drawing/2014/main" val="1268206041"/>
                  </a:ext>
                </a:extLst>
              </a:tr>
              <a:tr h="890154">
                <a:tc>
                  <a:txBody>
                    <a:bodyPr/>
                    <a:lstStyle/>
                    <a:p>
                      <a:pPr>
                        <a:lnSpc>
                          <a:spcPts val="1875"/>
                        </a:lnSpc>
                        <a:buNone/>
                      </a:pPr>
                      <a:r>
                        <a:rPr lang="en-SG" sz="1600" b="0">
                          <a:effectLst/>
                        </a:rPr>
                        <a:t>Trần Đình Ngọc</a:t>
                      </a:r>
                      <a:endParaRPr lang="en-SG" sz="1600" b="0">
                        <a:effectLst/>
                        <a:latin typeface="+mn-lt"/>
                      </a:endParaRPr>
                    </a:p>
                  </a:txBody>
                  <a:tcPr marR="133004" marT="83127" marB="83127" anchor="ctr"/>
                </a:tc>
                <a:tc>
                  <a:txBody>
                    <a:bodyPr/>
                    <a:lstStyle/>
                    <a:p>
                      <a:pPr>
                        <a:lnSpc>
                          <a:spcPts val="1875"/>
                        </a:lnSpc>
                        <a:buNone/>
                      </a:pPr>
                      <a:r>
                        <a:rPr lang="en-SG" sz="1600" b="0">
                          <a:effectLst/>
                        </a:rPr>
                        <a:t>23001541</a:t>
                      </a:r>
                      <a:endParaRPr lang="en-SG" sz="1600" b="0">
                        <a:effectLst/>
                        <a:latin typeface="+mn-lt"/>
                      </a:endParaRPr>
                    </a:p>
                  </a:txBody>
                  <a:tcPr marL="133004" marR="133004" marT="83127" marB="83127" anchor="ctr"/>
                </a:tc>
                <a:tc>
                  <a:txBody>
                    <a:bodyPr/>
                    <a:lstStyle/>
                    <a:p>
                      <a:pPr>
                        <a:lnSpc>
                          <a:spcPts val="1875"/>
                        </a:lnSpc>
                        <a:buNone/>
                      </a:pPr>
                      <a:r>
                        <a:rPr lang="en-SG" sz="1600" b="0">
                          <a:effectLst/>
                        </a:rPr>
                        <a:t>NgocTD</a:t>
                      </a:r>
                      <a:endParaRPr lang="en-SG" sz="1600" b="0">
                        <a:effectLst/>
                        <a:latin typeface="+mn-lt"/>
                      </a:endParaRPr>
                    </a:p>
                  </a:txBody>
                  <a:tcPr marL="133004" marR="133004" marT="83127" marB="83127" anchor="ctr"/>
                </a:tc>
                <a:tc>
                  <a:txBody>
                    <a:bodyPr/>
                    <a:lstStyle/>
                    <a:p>
                      <a:pPr>
                        <a:lnSpc>
                          <a:spcPts val="1875"/>
                        </a:lnSpc>
                        <a:buNone/>
                      </a:pPr>
                      <a:r>
                        <a:rPr lang="en-SG" sz="1600" b="0">
                          <a:effectLst/>
                        </a:rPr>
                        <a:t>Tìm kiếm tài liệu, làm báo cáo</a:t>
                      </a:r>
                      <a:endParaRPr lang="en-SG" sz="1600" b="0">
                        <a:effectLst/>
                        <a:latin typeface="+mn-lt"/>
                      </a:endParaRPr>
                    </a:p>
                  </a:txBody>
                  <a:tcPr marL="133004" marT="83127" marB="83127" anchor="ctr"/>
                </a:tc>
                <a:extLst>
                  <a:ext uri="{0D108BD9-81ED-4DB2-BD59-A6C34878D82A}">
                    <a16:rowId xmlns:a16="http://schemas.microsoft.com/office/drawing/2014/main" val="2604576593"/>
                  </a:ext>
                </a:extLst>
              </a:tr>
              <a:tr h="890154">
                <a:tc>
                  <a:txBody>
                    <a:bodyPr/>
                    <a:lstStyle/>
                    <a:p>
                      <a:pPr>
                        <a:lnSpc>
                          <a:spcPts val="1875"/>
                        </a:lnSpc>
                        <a:buNone/>
                      </a:pPr>
                      <a:r>
                        <a:rPr lang="vi-VN" sz="1600" b="0">
                          <a:effectLst/>
                        </a:rPr>
                        <a:t>Đoàn Dương Hưng</a:t>
                      </a:r>
                      <a:endParaRPr lang="vi-VN" sz="1600" b="0">
                        <a:effectLst/>
                        <a:latin typeface="+mn-lt"/>
                      </a:endParaRPr>
                    </a:p>
                  </a:txBody>
                  <a:tcPr marR="133004" marT="83127" marB="83127" anchor="ctr"/>
                </a:tc>
                <a:tc>
                  <a:txBody>
                    <a:bodyPr/>
                    <a:lstStyle/>
                    <a:p>
                      <a:pPr>
                        <a:lnSpc>
                          <a:spcPts val="1875"/>
                        </a:lnSpc>
                        <a:buNone/>
                      </a:pPr>
                      <a:r>
                        <a:rPr lang="en-SG" sz="1600" b="0" dirty="0">
                          <a:effectLst/>
                        </a:rPr>
                        <a:t>23001528</a:t>
                      </a:r>
                      <a:endParaRPr lang="en-SG" sz="1600" b="0" dirty="0">
                        <a:effectLst/>
                        <a:latin typeface="+mn-lt"/>
                      </a:endParaRPr>
                    </a:p>
                  </a:txBody>
                  <a:tcPr marL="133004" marR="133004" marT="83127" marB="83127" anchor="ctr"/>
                </a:tc>
                <a:tc>
                  <a:txBody>
                    <a:bodyPr/>
                    <a:lstStyle/>
                    <a:p>
                      <a:pPr>
                        <a:lnSpc>
                          <a:spcPts val="1875"/>
                        </a:lnSpc>
                        <a:buNone/>
                      </a:pPr>
                      <a:r>
                        <a:rPr lang="en-SG" sz="1600" b="0" dirty="0" err="1">
                          <a:effectLst/>
                        </a:rPr>
                        <a:t>hungdoanbeobeo</a:t>
                      </a:r>
                      <a:endParaRPr lang="en-SG" sz="1600" b="0" dirty="0">
                        <a:effectLst/>
                        <a:latin typeface="+mn-lt"/>
                      </a:endParaRPr>
                    </a:p>
                  </a:txBody>
                  <a:tcPr marL="133004" marR="133004" marT="83127" marB="83127" anchor="ctr"/>
                </a:tc>
                <a:tc>
                  <a:txBody>
                    <a:bodyPr/>
                    <a:lstStyle/>
                    <a:p>
                      <a:pPr>
                        <a:lnSpc>
                          <a:spcPts val="1875"/>
                        </a:lnSpc>
                        <a:buNone/>
                      </a:pPr>
                      <a:r>
                        <a:rPr lang="vi-VN" sz="1600" b="0" dirty="0">
                          <a:effectLst/>
                        </a:rPr>
                        <a:t>Kiểm thử chương trình, làm báo cáo</a:t>
                      </a:r>
                      <a:endParaRPr lang="vi-VN" sz="1600" b="0" dirty="0">
                        <a:effectLst/>
                        <a:latin typeface="+mn-lt"/>
                      </a:endParaRPr>
                    </a:p>
                  </a:txBody>
                  <a:tcPr marL="133004" marT="83127" marB="83127" anchor="ctr"/>
                </a:tc>
                <a:extLst>
                  <a:ext uri="{0D108BD9-81ED-4DB2-BD59-A6C34878D82A}">
                    <a16:rowId xmlns:a16="http://schemas.microsoft.com/office/drawing/2014/main" val="1467154644"/>
                  </a:ext>
                </a:extLst>
              </a:tr>
            </a:tbl>
          </a:graphicData>
        </a:graphic>
      </p:graphicFrame>
      <p:sp>
        <p:nvSpPr>
          <p:cNvPr id="7" name="Rectangle 1">
            <a:extLst>
              <a:ext uri="{FF2B5EF4-FFF2-40B4-BE49-F238E27FC236}">
                <a16:creationId xmlns:a16="http://schemas.microsoft.com/office/drawing/2014/main" id="{53DE2600-13CA-2DC6-C9E2-AC0BBC54C646}"/>
              </a:ext>
            </a:extLst>
          </p:cNvPr>
          <p:cNvSpPr>
            <a:spLocks noChangeArrowheads="1"/>
          </p:cNvSpPr>
          <p:nvPr/>
        </p:nvSpPr>
        <p:spPr bwMode="auto">
          <a:xfrm>
            <a:off x="609599" y="1813429"/>
            <a:ext cx="65" cy="687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717B5A82-EFBC-ADF5-2F40-2B88A0F4E21C}"/>
              </a:ext>
            </a:extLst>
          </p:cNvPr>
          <p:cNvSpPr>
            <a:spLocks noChangeArrowheads="1"/>
          </p:cNvSpPr>
          <p:nvPr/>
        </p:nvSpPr>
        <p:spPr bwMode="auto">
          <a:xfrm>
            <a:off x="609599" y="1679993"/>
            <a:ext cx="7589177" cy="1641346"/>
          </a:xfrm>
          <a:prstGeom prst="rect">
            <a:avLst/>
          </a:prstGeom>
          <a:noFill/>
          <a:ln>
            <a:noFill/>
          </a:ln>
          <a:effectLst/>
        </p:spPr>
        <p:txBody>
          <a:bodyPr vert="horz" wrap="square" lIns="0" tIns="203136" rIns="0" bIns="203136" numCol="1" anchor="ctr" anchorCtr="0" compatLnSpc="1">
            <a:prstTxWarp prst="textNoShape">
              <a:avLst/>
            </a:prstTxWarp>
            <a:spAutoFit/>
          </a:bodyPr>
          <a:lstStyle/>
          <a:p>
            <a:pPr defTabSz="914400" eaLnBrk="0" fontAlgn="base" hangingPunct="0">
              <a:spcBef>
                <a:spcPct val="0"/>
              </a:spcBef>
              <a:spcAft>
                <a:spcPct val="0"/>
              </a:spcAft>
            </a:pPr>
            <a:r>
              <a:rPr lang="en-US" altLang="en-US" sz="1600" b="1" dirty="0">
                <a:solidFill>
                  <a:srgbClr val="0F1115"/>
                </a:solidFill>
              </a:rPr>
              <a:t>Học </a:t>
            </a:r>
            <a:r>
              <a:rPr lang="en-US" altLang="en-US" sz="1600" b="1" dirty="0" err="1">
                <a:solidFill>
                  <a:srgbClr val="0F1115"/>
                </a:solidFill>
              </a:rPr>
              <a:t>phần</a:t>
            </a:r>
            <a:r>
              <a:rPr lang="en-US" altLang="en-US" sz="1600" b="1" dirty="0">
                <a:solidFill>
                  <a:srgbClr val="0F1115"/>
                </a:solidFill>
              </a:rPr>
              <a:t>:</a:t>
            </a:r>
            <a:r>
              <a:rPr lang="en-US" altLang="en-US" sz="1600" dirty="0">
                <a:solidFill>
                  <a:srgbClr val="0F1115"/>
                </a:solidFill>
              </a:rPr>
              <a:t> MAT3508 – </a:t>
            </a:r>
            <a:r>
              <a:rPr lang="en-US" altLang="en-US" sz="1600" dirty="0" err="1">
                <a:solidFill>
                  <a:srgbClr val="0F1115"/>
                </a:solidFill>
              </a:rPr>
              <a:t>Nhập</a:t>
            </a:r>
            <a:r>
              <a:rPr lang="en-US" altLang="en-US" sz="1600" dirty="0">
                <a:solidFill>
                  <a:srgbClr val="0F1115"/>
                </a:solidFill>
              </a:rPr>
              <a:t> </a:t>
            </a:r>
            <a:r>
              <a:rPr lang="en-US" altLang="en-US" sz="1600" dirty="0" err="1">
                <a:solidFill>
                  <a:srgbClr val="0F1115"/>
                </a:solidFill>
              </a:rPr>
              <a:t>môn</a:t>
            </a:r>
            <a:r>
              <a:rPr lang="en-US" altLang="en-US" sz="1600" dirty="0">
                <a:solidFill>
                  <a:srgbClr val="0F1115"/>
                </a:solidFill>
              </a:rPr>
              <a:t> Trí </a:t>
            </a:r>
            <a:r>
              <a:rPr lang="en-US" altLang="en-US" sz="1600" dirty="0" err="1">
                <a:solidFill>
                  <a:srgbClr val="0F1115"/>
                </a:solidFill>
              </a:rPr>
              <a:t>tuệ</a:t>
            </a:r>
            <a:r>
              <a:rPr lang="en-US" altLang="en-US" sz="1600" dirty="0">
                <a:solidFill>
                  <a:srgbClr val="0F1115"/>
                </a:solidFill>
              </a:rPr>
              <a:t> </a:t>
            </a:r>
            <a:r>
              <a:rPr lang="en-US" altLang="en-US" sz="1600" dirty="0" err="1">
                <a:solidFill>
                  <a:srgbClr val="0F1115"/>
                </a:solidFill>
              </a:rPr>
              <a:t>Nhân</a:t>
            </a:r>
            <a:r>
              <a:rPr lang="en-US" altLang="en-US" sz="1600" dirty="0">
                <a:solidFill>
                  <a:srgbClr val="0F1115"/>
                </a:solidFill>
              </a:rPr>
              <a:t> </a:t>
            </a:r>
            <a:r>
              <a:rPr lang="en-US" altLang="en-US" sz="1600" dirty="0" err="1">
                <a:solidFill>
                  <a:srgbClr val="0F1115"/>
                </a:solidFill>
              </a:rPr>
              <a:t>tạo</a:t>
            </a:r>
            <a:br>
              <a:rPr lang="en-US" altLang="en-US" sz="1600" dirty="0">
                <a:solidFill>
                  <a:srgbClr val="0F1115"/>
                </a:solidFill>
              </a:rPr>
            </a:br>
            <a:r>
              <a:rPr lang="en-US" altLang="en-US" sz="1600" b="1" dirty="0">
                <a:solidFill>
                  <a:srgbClr val="0F1115"/>
                </a:solidFill>
              </a:rPr>
              <a:t>Học </a:t>
            </a:r>
            <a:r>
              <a:rPr lang="en-US" altLang="en-US" sz="1600" b="1" dirty="0" err="1">
                <a:solidFill>
                  <a:srgbClr val="0F1115"/>
                </a:solidFill>
              </a:rPr>
              <a:t>kỳ</a:t>
            </a:r>
            <a:r>
              <a:rPr lang="en-US" altLang="en-US" sz="1600" b="1" dirty="0">
                <a:solidFill>
                  <a:srgbClr val="0F1115"/>
                </a:solidFill>
              </a:rPr>
              <a:t>:</a:t>
            </a:r>
            <a:r>
              <a:rPr lang="en-US" altLang="en-US" sz="1600" dirty="0">
                <a:solidFill>
                  <a:srgbClr val="0F1115"/>
                </a:solidFill>
              </a:rPr>
              <a:t> Học </a:t>
            </a:r>
            <a:r>
              <a:rPr lang="en-US" altLang="en-US" sz="1600" dirty="0" err="1">
                <a:solidFill>
                  <a:srgbClr val="0F1115"/>
                </a:solidFill>
              </a:rPr>
              <a:t>kỳ</a:t>
            </a:r>
            <a:r>
              <a:rPr lang="en-US" altLang="en-US" sz="1600" dirty="0">
                <a:solidFill>
                  <a:srgbClr val="0F1115"/>
                </a:solidFill>
              </a:rPr>
              <a:t> 1, </a:t>
            </a:r>
            <a:r>
              <a:rPr lang="en-US" altLang="en-US" sz="1600" dirty="0" err="1">
                <a:solidFill>
                  <a:srgbClr val="0F1115"/>
                </a:solidFill>
              </a:rPr>
              <a:t>Năm</a:t>
            </a:r>
            <a:r>
              <a:rPr lang="en-US" altLang="en-US" sz="1600" dirty="0">
                <a:solidFill>
                  <a:srgbClr val="0F1115"/>
                </a:solidFill>
              </a:rPr>
              <a:t> </a:t>
            </a:r>
            <a:r>
              <a:rPr lang="en-US" altLang="en-US" sz="1600" dirty="0" err="1">
                <a:solidFill>
                  <a:srgbClr val="0F1115"/>
                </a:solidFill>
              </a:rPr>
              <a:t>học</a:t>
            </a:r>
            <a:r>
              <a:rPr lang="en-US" altLang="en-US" sz="1600" dirty="0">
                <a:solidFill>
                  <a:srgbClr val="0F1115"/>
                </a:solidFill>
              </a:rPr>
              <a:t> 2025-2026</a:t>
            </a:r>
            <a:br>
              <a:rPr lang="en-US" altLang="en-US" sz="1600" dirty="0">
                <a:solidFill>
                  <a:srgbClr val="0F1115"/>
                </a:solidFill>
              </a:rPr>
            </a:br>
            <a:r>
              <a:rPr lang="en-US" altLang="en-US" sz="1600" b="1" dirty="0">
                <a:solidFill>
                  <a:srgbClr val="0F1115"/>
                </a:solidFill>
              </a:rPr>
              <a:t>Trường:</a:t>
            </a:r>
            <a:r>
              <a:rPr lang="en-US" altLang="en-US" sz="1600" dirty="0">
                <a:solidFill>
                  <a:srgbClr val="0F1115"/>
                </a:solidFill>
              </a:rPr>
              <a:t> VNU-HUS </a:t>
            </a:r>
            <a:r>
              <a:rPr lang="en-US" altLang="en-US" sz="1600" dirty="0" err="1">
                <a:solidFill>
                  <a:srgbClr val="0F1115"/>
                </a:solidFill>
              </a:rPr>
              <a:t>Đại</a:t>
            </a:r>
            <a:r>
              <a:rPr lang="en-US" altLang="en-US" sz="1600" dirty="0">
                <a:solidFill>
                  <a:srgbClr val="0F1115"/>
                </a:solidFill>
              </a:rPr>
              <a:t> </a:t>
            </a:r>
            <a:r>
              <a:rPr lang="en-US" altLang="en-US" sz="1600" dirty="0" err="1">
                <a:solidFill>
                  <a:srgbClr val="0F1115"/>
                </a:solidFill>
              </a:rPr>
              <a:t>học</a:t>
            </a:r>
            <a:r>
              <a:rPr lang="en-US" altLang="en-US" sz="1600" dirty="0">
                <a:solidFill>
                  <a:srgbClr val="0F1115"/>
                </a:solidFill>
              </a:rPr>
              <a:t> Quốc </a:t>
            </a:r>
            <a:r>
              <a:rPr lang="en-US" altLang="en-US" sz="1600" dirty="0" err="1">
                <a:solidFill>
                  <a:srgbClr val="0F1115"/>
                </a:solidFill>
              </a:rPr>
              <a:t>gia</a:t>
            </a:r>
            <a:r>
              <a:rPr lang="en-US" altLang="en-US" sz="1600" dirty="0">
                <a:solidFill>
                  <a:srgbClr val="0F1115"/>
                </a:solidFill>
              </a:rPr>
              <a:t> Hà </a:t>
            </a:r>
            <a:r>
              <a:rPr lang="en-US" altLang="en-US" sz="1600" dirty="0" err="1">
                <a:solidFill>
                  <a:srgbClr val="0F1115"/>
                </a:solidFill>
              </a:rPr>
              <a:t>Nội</a:t>
            </a:r>
            <a:r>
              <a:rPr lang="en-US" altLang="en-US" sz="1600" dirty="0">
                <a:solidFill>
                  <a:srgbClr val="0F1115"/>
                </a:solidFill>
              </a:rPr>
              <a:t> – Trường </a:t>
            </a:r>
            <a:r>
              <a:rPr lang="en-US" altLang="en-US" sz="1600" dirty="0" err="1">
                <a:solidFill>
                  <a:srgbClr val="0F1115"/>
                </a:solidFill>
              </a:rPr>
              <a:t>Đại</a:t>
            </a:r>
            <a:r>
              <a:rPr lang="en-US" altLang="en-US" sz="1600" dirty="0">
                <a:solidFill>
                  <a:srgbClr val="0F1115"/>
                </a:solidFill>
              </a:rPr>
              <a:t> </a:t>
            </a:r>
            <a:r>
              <a:rPr lang="en-US" altLang="en-US" sz="1600" dirty="0" err="1">
                <a:solidFill>
                  <a:srgbClr val="0F1115"/>
                </a:solidFill>
              </a:rPr>
              <a:t>học</a:t>
            </a:r>
            <a:r>
              <a:rPr lang="en-US" altLang="en-US" sz="1600" dirty="0">
                <a:solidFill>
                  <a:srgbClr val="0F1115"/>
                </a:solidFill>
              </a:rPr>
              <a:t> Khoa </a:t>
            </a:r>
            <a:r>
              <a:rPr lang="en-US" altLang="en-US" sz="1600" dirty="0" err="1">
                <a:solidFill>
                  <a:srgbClr val="0F1115"/>
                </a:solidFill>
              </a:rPr>
              <a:t>học</a:t>
            </a:r>
            <a:r>
              <a:rPr lang="en-US" altLang="en-US" sz="1600" dirty="0">
                <a:solidFill>
                  <a:srgbClr val="0F1115"/>
                </a:solidFill>
              </a:rPr>
              <a:t> </a:t>
            </a:r>
            <a:r>
              <a:rPr lang="en-US" altLang="en-US" sz="1600" dirty="0" err="1">
                <a:solidFill>
                  <a:srgbClr val="0F1115"/>
                </a:solidFill>
              </a:rPr>
              <a:t>Tự</a:t>
            </a:r>
            <a:r>
              <a:rPr lang="en-US" altLang="en-US" sz="1600" dirty="0">
                <a:solidFill>
                  <a:srgbClr val="0F1115"/>
                </a:solidFill>
              </a:rPr>
              <a:t> </a:t>
            </a:r>
            <a:r>
              <a:rPr lang="en-US" altLang="en-US" sz="1600" dirty="0" err="1">
                <a:solidFill>
                  <a:srgbClr val="0F1115"/>
                </a:solidFill>
              </a:rPr>
              <a:t>nhiên</a:t>
            </a:r>
            <a:br>
              <a:rPr lang="en-US" altLang="en-US" sz="1600" dirty="0">
                <a:solidFill>
                  <a:srgbClr val="0F1115"/>
                </a:solidFill>
              </a:rPr>
            </a:br>
            <a:r>
              <a:rPr lang="en-US" altLang="en-US" sz="1600" b="1" dirty="0" err="1">
                <a:solidFill>
                  <a:srgbClr val="0F1115"/>
                </a:solidFill>
              </a:rPr>
              <a:t>Ngày</a:t>
            </a:r>
            <a:r>
              <a:rPr lang="en-US" altLang="en-US" sz="1600" b="1" dirty="0">
                <a:solidFill>
                  <a:srgbClr val="0F1115"/>
                </a:solidFill>
              </a:rPr>
              <a:t> </a:t>
            </a:r>
            <a:r>
              <a:rPr lang="en-US" altLang="en-US" sz="1600" b="1" dirty="0" err="1">
                <a:solidFill>
                  <a:srgbClr val="0F1115"/>
                </a:solidFill>
              </a:rPr>
              <a:t>nộp</a:t>
            </a:r>
            <a:r>
              <a:rPr lang="en-US" altLang="en-US" sz="1600" b="1" dirty="0">
                <a:solidFill>
                  <a:srgbClr val="0F1115"/>
                </a:solidFill>
              </a:rPr>
              <a:t>:</a:t>
            </a:r>
            <a:r>
              <a:rPr lang="en-US" altLang="en-US" sz="1600" dirty="0">
                <a:solidFill>
                  <a:srgbClr val="0F1115"/>
                </a:solidFill>
              </a:rPr>
              <a:t> 30/11/2025</a:t>
            </a:r>
            <a:endParaRPr kumimoji="0" lang="en-US" altLang="en-US" sz="1600" b="1" i="0" u="none" strike="noStrike" cap="none" normalizeH="0" baseline="0" dirty="0">
              <a:ln>
                <a:noFill/>
              </a:ln>
              <a:solidFill>
                <a:srgbClr val="0F1115"/>
              </a:solidFill>
              <a:effectLst/>
            </a:endParaRPr>
          </a:p>
          <a:p>
            <a:pPr lvl="0" defTabSz="914400" eaLnBrk="0" fontAlgn="base" hangingPunct="0">
              <a:spcBef>
                <a:spcPct val="0"/>
              </a:spcBef>
              <a:spcAft>
                <a:spcPct val="0"/>
              </a:spcAft>
            </a:pPr>
            <a:r>
              <a:rPr kumimoji="0" lang="en-US" altLang="en-US" sz="1600" b="1" i="0" u="none" strike="noStrike" cap="none" normalizeH="0" baseline="0" dirty="0">
                <a:ln>
                  <a:noFill/>
                </a:ln>
                <a:solidFill>
                  <a:srgbClr val="0F1115"/>
                </a:solidFill>
                <a:effectLst/>
              </a:rPr>
              <a:t>Kho GitHub</a:t>
            </a:r>
            <a:r>
              <a:rPr kumimoji="0" lang="en-US" altLang="en-US" sz="1600" b="0" i="0" u="none" strike="noStrike" cap="none" normalizeH="0" baseline="0" dirty="0">
                <a:ln>
                  <a:noFill/>
                </a:ln>
                <a:solidFill>
                  <a:srgbClr val="0F1115"/>
                </a:solidFill>
                <a:effectLst/>
              </a:rPr>
              <a:t>: </a:t>
            </a:r>
            <a:r>
              <a:rPr lang="en-US" altLang="en-US" sz="1600" dirty="0">
                <a:solidFill>
                  <a:srgbClr val="0F1115"/>
                </a:solidFill>
              </a:rPr>
              <a:t>https://github.com/Neikien/Food-and-non-Food-classification</a:t>
            </a:r>
            <a:endParaRPr kumimoji="0" lang="en-US" altLang="en-US" sz="1600" b="0" i="0" u="none" strike="noStrike" cap="none" normalizeH="0" baseline="0" dirty="0">
              <a:ln>
                <a:noFill/>
              </a:ln>
              <a:solidFill>
                <a:srgbClr val="0F1115"/>
              </a:solidFill>
              <a:effectLst/>
            </a:endParaRPr>
          </a:p>
        </p:txBody>
      </p:sp>
    </p:spTree>
    <p:extLst>
      <p:ext uri="{BB962C8B-B14F-4D97-AF65-F5344CB8AC3E}">
        <p14:creationId xmlns:p14="http://schemas.microsoft.com/office/powerpoint/2010/main" val="2711979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479339"/>
            <a:ext cx="7648121" cy="1099457"/>
          </a:xfrm>
        </p:spPr>
        <p:txBody>
          <a:bodyPr>
            <a:normAutofit/>
          </a:bodyPr>
          <a:lstStyle/>
          <a:p>
            <a:r>
              <a:rPr lang="en-SG" sz="4800" dirty="0">
                <a:latin typeface="Times New Roman" panose="02020603050405020304" pitchFamily="18" charset="0"/>
                <a:cs typeface="Times New Roman" panose="02020603050405020304" pitchFamily="18" charset="0"/>
              </a:rPr>
              <a:t>Outline</a:t>
            </a:r>
            <a:endParaRPr sz="4800" dirty="0">
              <a:latin typeface="Times New Roman" panose="02020603050405020304" pitchFamily="18" charset="0"/>
              <a:cs typeface="Times New Roman" panose="02020603050405020304" pitchFamily="18" charset="0"/>
            </a:endParaRPr>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aphicFrame>
        <p:nvGraphicFramePr>
          <p:cNvPr id="5" name="Content Placeholder 2">
            <a:extLst>
              <a:ext uri="{FF2B5EF4-FFF2-40B4-BE49-F238E27FC236}">
                <a16:creationId xmlns:a16="http://schemas.microsoft.com/office/drawing/2014/main" id="{AA084107-2EEF-EE73-B245-854148BB25BB}"/>
              </a:ext>
            </a:extLst>
          </p:cNvPr>
          <p:cNvGraphicFramePr>
            <a:graphicFrameLocks noGrp="1"/>
          </p:cNvGraphicFramePr>
          <p:nvPr>
            <p:ph idx="1"/>
            <p:extLst>
              <p:ext uri="{D42A27DB-BD31-4B8C-83A1-F6EECF244321}">
                <p14:modId xmlns:p14="http://schemas.microsoft.com/office/powerpoint/2010/main" val="2022318231"/>
              </p:ext>
            </p:extLst>
          </p:nvPr>
        </p:nvGraphicFramePr>
        <p:xfrm>
          <a:off x="587837" y="1966459"/>
          <a:ext cx="821961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lang="en-SG" dirty="0" err="1"/>
              <a:t>I.Giới</a:t>
            </a:r>
            <a:r>
              <a:rPr lang="en-SG" dirty="0"/>
              <a:t> </a:t>
            </a:r>
            <a:r>
              <a:rPr lang="en-SG" dirty="0" err="1"/>
              <a:t>thiệu</a:t>
            </a:r>
            <a:r>
              <a:rPr lang="en-SG" dirty="0"/>
              <a:t> </a:t>
            </a:r>
            <a:r>
              <a:rPr lang="en-SG" dirty="0" err="1"/>
              <a:t>về</a:t>
            </a:r>
            <a:r>
              <a:rPr lang="en-SG" dirty="0"/>
              <a:t> </a:t>
            </a:r>
            <a:r>
              <a:rPr lang="en-SG" dirty="0" err="1"/>
              <a:t>đề</a:t>
            </a:r>
            <a:r>
              <a:rPr lang="en-SG" dirty="0"/>
              <a:t> </a:t>
            </a:r>
            <a:r>
              <a:rPr lang="en-SG" dirty="0" err="1"/>
              <a:t>tài</a:t>
            </a:r>
            <a:endParaRPr dirty="0"/>
          </a:p>
        </p:txBody>
      </p:sp>
      <p:sp>
        <p:nvSpPr>
          <p:cNvPr id="4" name="Content Placeholder 3">
            <a:extLst>
              <a:ext uri="{FF2B5EF4-FFF2-40B4-BE49-F238E27FC236}">
                <a16:creationId xmlns:a16="http://schemas.microsoft.com/office/drawing/2014/main" id="{0BC5C3AF-4D42-BB20-A641-8ACB01FE6838}"/>
              </a:ext>
            </a:extLst>
          </p:cNvPr>
          <p:cNvSpPr>
            <a:spLocks noGrp="1"/>
          </p:cNvSpPr>
          <p:nvPr>
            <p:ph idx="1"/>
          </p:nvPr>
        </p:nvSpPr>
        <p:spPr>
          <a:xfrm>
            <a:off x="609598" y="2160590"/>
            <a:ext cx="6736423" cy="3880773"/>
          </a:xfrm>
        </p:spPr>
        <p:txBody>
          <a:bodyPr>
            <a:normAutofit lnSpcReduction="10000"/>
          </a:bodyPr>
          <a:lstStyle/>
          <a:p>
            <a:pPr marL="0" indent="0">
              <a:buNone/>
            </a:pPr>
            <a:r>
              <a:rPr lang="vi-VN" dirty="0"/>
              <a:t>Bài toán được nhóm tập trung giải quyết là phân loại hình ảnh thành hai lớp: Food và Non-Food.</a:t>
            </a:r>
            <a:r>
              <a:rPr lang="en-SG" dirty="0"/>
              <a:t> </a:t>
            </a:r>
            <a:r>
              <a:rPr lang="vi-VN" dirty="0"/>
              <a:t>Cụ thể, khi tải lên một ảnh bất kỳ, mô hình sẽ dự đoán hình ảnh đó có chứa thực phẩm hay không.</a:t>
            </a:r>
            <a:endParaRPr lang="en-SG" dirty="0"/>
          </a:p>
          <a:p>
            <a:pPr marL="0" indent="0">
              <a:buNone/>
            </a:pPr>
            <a:r>
              <a:rPr lang="en-SG" dirty="0" err="1"/>
              <a:t>Mô</a:t>
            </a:r>
            <a:r>
              <a:rPr lang="en-SG" dirty="0"/>
              <a:t> </a:t>
            </a:r>
            <a:r>
              <a:rPr lang="en-SG" dirty="0" err="1"/>
              <a:t>hình</a:t>
            </a:r>
            <a:r>
              <a:rPr lang="en-SG" dirty="0"/>
              <a:t> </a:t>
            </a:r>
            <a:r>
              <a:rPr lang="en-SG" dirty="0" err="1"/>
              <a:t>này</a:t>
            </a:r>
            <a:r>
              <a:rPr lang="en-SG" dirty="0"/>
              <a:t> </a:t>
            </a:r>
            <a:r>
              <a:rPr lang="en-SG" dirty="0" err="1"/>
              <a:t>là</a:t>
            </a:r>
            <a:r>
              <a:rPr lang="en-SG" dirty="0"/>
              <a:t> </a:t>
            </a:r>
            <a:r>
              <a:rPr lang="en-SG" dirty="0" err="1"/>
              <a:t>cơ</a:t>
            </a:r>
            <a:r>
              <a:rPr lang="en-SG" dirty="0"/>
              <a:t> </a:t>
            </a:r>
            <a:r>
              <a:rPr lang="en-SG" dirty="0" err="1"/>
              <a:t>sở</a:t>
            </a:r>
            <a:r>
              <a:rPr lang="en-SG" dirty="0"/>
              <a:t> </a:t>
            </a:r>
            <a:r>
              <a:rPr lang="en-SG" dirty="0" err="1"/>
              <a:t>để</a:t>
            </a:r>
            <a:r>
              <a:rPr lang="en-SG" dirty="0"/>
              <a:t> </a:t>
            </a:r>
            <a:r>
              <a:rPr lang="en-SG" dirty="0" err="1"/>
              <a:t>tiếp</a:t>
            </a:r>
            <a:r>
              <a:rPr lang="en-SG" dirty="0"/>
              <a:t> </a:t>
            </a:r>
            <a:r>
              <a:rPr lang="en-SG" dirty="0" err="1"/>
              <a:t>tục</a:t>
            </a:r>
            <a:r>
              <a:rPr lang="en-SG" dirty="0"/>
              <a:t> </a:t>
            </a:r>
            <a:r>
              <a:rPr lang="en-SG" dirty="0" err="1"/>
              <a:t>phát</a:t>
            </a:r>
            <a:r>
              <a:rPr lang="en-SG" dirty="0"/>
              <a:t> </a:t>
            </a:r>
            <a:r>
              <a:rPr lang="en-SG" dirty="0" err="1"/>
              <a:t>triển</a:t>
            </a:r>
            <a:r>
              <a:rPr lang="en-SG" dirty="0"/>
              <a:t> </a:t>
            </a:r>
            <a:r>
              <a:rPr lang="en-SG" dirty="0" err="1"/>
              <a:t>thành</a:t>
            </a:r>
            <a:r>
              <a:rPr lang="en-SG" dirty="0"/>
              <a:t> </a:t>
            </a:r>
            <a:r>
              <a:rPr lang="en-SG" dirty="0" err="1"/>
              <a:t>các</a:t>
            </a:r>
            <a:r>
              <a:rPr lang="en-SG" dirty="0"/>
              <a:t> </a:t>
            </a:r>
            <a:r>
              <a:rPr lang="en-SG" dirty="0" err="1"/>
              <a:t>mô</a:t>
            </a:r>
            <a:r>
              <a:rPr lang="en-SG" dirty="0"/>
              <a:t> </a:t>
            </a:r>
            <a:r>
              <a:rPr lang="en-SG" dirty="0" err="1"/>
              <a:t>hình</a:t>
            </a:r>
            <a:r>
              <a:rPr lang="en-SG" dirty="0"/>
              <a:t> </a:t>
            </a:r>
            <a:r>
              <a:rPr lang="en-SG" dirty="0" err="1"/>
              <a:t>có</a:t>
            </a:r>
            <a:r>
              <a:rPr lang="en-SG" dirty="0"/>
              <a:t> </a:t>
            </a:r>
            <a:r>
              <a:rPr lang="en-SG" dirty="0" err="1"/>
              <a:t>thể</a:t>
            </a:r>
            <a:r>
              <a:rPr lang="en-SG" dirty="0"/>
              <a:t> :</a:t>
            </a:r>
          </a:p>
          <a:p>
            <a:pPr marL="0" indent="0">
              <a:buNone/>
            </a:pPr>
            <a:r>
              <a:rPr lang="vi-VN" dirty="0"/>
              <a:t>• Hỗ trợ các ứng dụng gợi ý chế độ ăn, tính toán dinh dưỡng hoặc quản lý calo. </a:t>
            </a:r>
            <a:endParaRPr lang="en-SG" dirty="0"/>
          </a:p>
          <a:p>
            <a:pPr marL="0" indent="0">
              <a:buNone/>
            </a:pPr>
            <a:r>
              <a:rPr lang="vi-VN" dirty="0"/>
              <a:t>• Tích hợp vào hệ thống tìm kiếm và phân loại hình ảnh trong các nền tảng mạng xã hội hoặc dịch vụ ẩm thực trực tuyến. </a:t>
            </a:r>
            <a:endParaRPr lang="en-SG" dirty="0"/>
          </a:p>
          <a:p>
            <a:pPr marL="0" indent="0">
              <a:buNone/>
            </a:pPr>
            <a:r>
              <a:rPr lang="vi-VN" dirty="0"/>
              <a:t>• Mở rộng thành nền tảng phân loại chi tiết món ăn, hỗ trợ thương mại điện tử trong lĩnh vực thực phẩm.</a:t>
            </a:r>
            <a:endParaRPr lang="en-S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F271DA-CBDC-95CE-DBBD-557D1E08BB5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AEFD578-E0A8-9361-C3BF-5B0B91631579}"/>
              </a:ext>
            </a:extLst>
          </p:cNvPr>
          <p:cNvSpPr>
            <a:spLocks noGrp="1"/>
          </p:cNvSpPr>
          <p:nvPr>
            <p:ph idx="1"/>
          </p:nvPr>
        </p:nvSpPr>
        <p:spPr>
          <a:xfrm>
            <a:off x="609598" y="2253589"/>
            <a:ext cx="6736423" cy="4332306"/>
          </a:xfrm>
        </p:spPr>
        <p:txBody>
          <a:bodyPr>
            <a:normAutofit lnSpcReduction="10000"/>
          </a:bodyPr>
          <a:lstStyle/>
          <a:p>
            <a:pPr marL="0" indent="0">
              <a:buNone/>
            </a:pPr>
            <a:r>
              <a:rPr lang="vi-VN" dirty="0"/>
              <a:t>Trong nghiên cứu này, chúng tôi áp dụng phương pháp fine-tuning mô hình ResNet50, một kiến trúc mạng nơ-ron tích chập (CNN) sâu đã đạt nhiều thành tựu trong thị giác máy tính. Việc tận dụng trọng số pretrained từ bộ dữ liệu ImageNet cho phép mô hình học nhanh hơn, ổn định hơn và đặc biệt hiệu quả cho các bài toán dữ liệu ít như Food-5K. </a:t>
            </a:r>
          </a:p>
          <a:p>
            <a:pPr marL="0" indent="0">
              <a:buNone/>
            </a:pPr>
            <a:r>
              <a:rPr lang="vi-VN" dirty="0"/>
              <a:t>Phương pháp nghiên cứu dựa trên các nền tảng lý thuyết quan trọng sau: </a:t>
            </a:r>
          </a:p>
          <a:p>
            <a:pPr marL="0" indent="0">
              <a:buNone/>
            </a:pPr>
            <a:r>
              <a:rPr lang="vi-VN" dirty="0"/>
              <a:t>• Transfer Learning: </a:t>
            </a:r>
            <a:endParaRPr lang="en-SG" dirty="0"/>
          </a:p>
          <a:p>
            <a:pPr marL="0" indent="0">
              <a:buNone/>
            </a:pPr>
            <a:r>
              <a:rPr lang="vi-VN" dirty="0"/>
              <a:t>• Deep Feature Extraction</a:t>
            </a:r>
            <a:endParaRPr lang="en-SG" dirty="0"/>
          </a:p>
          <a:p>
            <a:pPr marL="0" indent="0">
              <a:buNone/>
            </a:pPr>
            <a:r>
              <a:rPr lang="vi-VN" dirty="0"/>
              <a:t>• Dropout Regularization</a:t>
            </a:r>
            <a:endParaRPr lang="en-SG" dirty="0"/>
          </a:p>
          <a:p>
            <a:pPr marL="0" indent="0">
              <a:buNone/>
            </a:pPr>
            <a:r>
              <a:rPr lang="vi-VN" dirty="0"/>
              <a:t>• Binary Cross-Entropy Loss</a:t>
            </a:r>
            <a:endParaRPr lang="en-SG" dirty="0"/>
          </a:p>
          <a:p>
            <a:pPr marL="0" indent="0">
              <a:buNone/>
            </a:pPr>
            <a:r>
              <a:rPr lang="vi-VN" dirty="0"/>
              <a:t>• Optimization with Adam. </a:t>
            </a:r>
          </a:p>
        </p:txBody>
      </p:sp>
      <p:sp>
        <p:nvSpPr>
          <p:cNvPr id="6" name="Title 1">
            <a:extLst>
              <a:ext uri="{FF2B5EF4-FFF2-40B4-BE49-F238E27FC236}">
                <a16:creationId xmlns:a16="http://schemas.microsoft.com/office/drawing/2014/main" id="{F3502AD2-7046-BE81-F896-B0E80E85FAE0}"/>
              </a:ext>
            </a:extLst>
          </p:cNvPr>
          <p:cNvSpPr txBox="1">
            <a:spLocks/>
          </p:cNvSpPr>
          <p:nvPr/>
        </p:nvSpPr>
        <p:spPr>
          <a:xfrm>
            <a:off x="609599" y="609600"/>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extLst>
      <p:ext uri="{BB962C8B-B14F-4D97-AF65-F5344CB8AC3E}">
        <p14:creationId xmlns:p14="http://schemas.microsoft.com/office/powerpoint/2010/main" val="7969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5409915" cy="1320800"/>
          </a:xfrm>
        </p:spPr>
        <p:txBody>
          <a:bodyPr>
            <a:normAutofit/>
          </a:bodyPr>
          <a:lstStyle/>
          <a:p>
            <a:r>
              <a:rPr lang="en-SG" dirty="0" err="1"/>
              <a:t>II.Phương</a:t>
            </a:r>
            <a:r>
              <a:rPr lang="en-SG" dirty="0"/>
              <a:t> </a:t>
            </a:r>
            <a:r>
              <a:rPr lang="en-SG" dirty="0" err="1"/>
              <a:t>pháp</a:t>
            </a:r>
            <a:r>
              <a:rPr lang="en-SG" dirty="0"/>
              <a:t> </a:t>
            </a:r>
            <a:r>
              <a:rPr lang="en-SG" dirty="0" err="1"/>
              <a:t>nghiên</a:t>
            </a:r>
            <a:r>
              <a:rPr lang="en-SG" dirty="0"/>
              <a:t> </a:t>
            </a:r>
            <a:r>
              <a:rPr lang="en-SG" dirty="0" err="1"/>
              <a:t>cứu</a:t>
            </a:r>
            <a:r>
              <a:rPr lang="en-SG" dirty="0"/>
              <a:t> &amp; </a:t>
            </a:r>
            <a:r>
              <a:rPr lang="en-SG" dirty="0" err="1"/>
              <a:t>triển</a:t>
            </a:r>
            <a:r>
              <a:rPr lang="en-SG" dirty="0"/>
              <a:t> </a:t>
            </a:r>
            <a:r>
              <a:rPr lang="en-SG" dirty="0" err="1"/>
              <a:t>khai</a:t>
            </a:r>
            <a:endParaRPr dirty="0"/>
          </a:p>
        </p:txBody>
      </p:sp>
      <p:graphicFrame>
        <p:nvGraphicFramePr>
          <p:cNvPr id="5" name="Content Placeholder 2">
            <a:extLst>
              <a:ext uri="{FF2B5EF4-FFF2-40B4-BE49-F238E27FC236}">
                <a16:creationId xmlns:a16="http://schemas.microsoft.com/office/drawing/2014/main" id="{E81D8988-B1B8-BC1D-6F4E-1200AD7ECEA7}"/>
              </a:ext>
            </a:extLst>
          </p:cNvPr>
          <p:cNvGraphicFramePr>
            <a:graphicFrameLocks noGrp="1"/>
          </p:cNvGraphicFramePr>
          <p:nvPr>
            <p:ph idx="1"/>
            <p:extLst>
              <p:ext uri="{D42A27DB-BD31-4B8C-83A1-F6EECF244321}">
                <p14:modId xmlns:p14="http://schemas.microsoft.com/office/powerpoint/2010/main" val="1162423782"/>
              </p:ext>
            </p:extLst>
          </p:nvPr>
        </p:nvGraphicFramePr>
        <p:xfrm>
          <a:off x="508000" y="2504558"/>
          <a:ext cx="6447234"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3">
            <a:extLst>
              <a:ext uri="{FF2B5EF4-FFF2-40B4-BE49-F238E27FC236}">
                <a16:creationId xmlns:a16="http://schemas.microsoft.com/office/drawing/2014/main" id="{D93D5EBE-F85C-C259-1DC6-2E7E172E2371}"/>
              </a:ext>
            </a:extLst>
          </p:cNvPr>
          <p:cNvSpPr txBox="1">
            <a:spLocks/>
          </p:cNvSpPr>
          <p:nvPr/>
        </p:nvSpPr>
        <p:spPr>
          <a:xfrm>
            <a:off x="609598" y="1916094"/>
            <a:ext cx="6736423" cy="43323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SG" dirty="0"/>
              <a:t>Quy </a:t>
            </a:r>
            <a:r>
              <a:rPr lang="en-SG" dirty="0" err="1"/>
              <a:t>trình</a:t>
            </a:r>
            <a:r>
              <a:rPr lang="en-SG" dirty="0"/>
              <a:t> </a:t>
            </a:r>
            <a:r>
              <a:rPr lang="en-SG" dirty="0" err="1"/>
              <a:t>huấn</a:t>
            </a:r>
            <a:r>
              <a:rPr lang="en-SG" dirty="0"/>
              <a:t> </a:t>
            </a:r>
            <a:r>
              <a:rPr lang="en-SG" dirty="0" err="1"/>
              <a:t>luyện</a:t>
            </a:r>
            <a:r>
              <a:rPr lang="en-SG" dirty="0"/>
              <a:t> </a:t>
            </a:r>
            <a:r>
              <a:rPr lang="en-SG" dirty="0" err="1"/>
              <a:t>mô</a:t>
            </a:r>
            <a:r>
              <a:rPr lang="en-SG" dirty="0"/>
              <a:t> </a:t>
            </a:r>
            <a:r>
              <a:rPr lang="en-SG" dirty="0" err="1"/>
              <a:t>hình</a:t>
            </a:r>
            <a:r>
              <a:rPr lang="en-SG" dirty="0"/>
              <a:t>:</a:t>
            </a:r>
            <a:endParaRPr lang="vi-V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8DF57E-051A-4756-F375-6A695490C88D}"/>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1C4E4E8C-3125-126A-DCBD-AA5EAB843E1F}"/>
              </a:ext>
            </a:extLst>
          </p:cNvPr>
          <p:cNvSpPr txBox="1">
            <a:spLocks/>
          </p:cNvSpPr>
          <p:nvPr/>
        </p:nvSpPr>
        <p:spPr>
          <a:xfrm>
            <a:off x="609598" y="1916094"/>
            <a:ext cx="6736423" cy="43323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vi-VN" dirty="0"/>
          </a:p>
        </p:txBody>
      </p:sp>
      <p:sp>
        <p:nvSpPr>
          <p:cNvPr id="6" name="Content Placeholder 5">
            <a:extLst>
              <a:ext uri="{FF2B5EF4-FFF2-40B4-BE49-F238E27FC236}">
                <a16:creationId xmlns:a16="http://schemas.microsoft.com/office/drawing/2014/main" id="{E4A4869F-CDCE-FFB3-8258-045B632291F1}"/>
              </a:ext>
            </a:extLst>
          </p:cNvPr>
          <p:cNvSpPr>
            <a:spLocks noGrp="1"/>
          </p:cNvSpPr>
          <p:nvPr>
            <p:ph idx="1"/>
          </p:nvPr>
        </p:nvSpPr>
        <p:spPr>
          <a:xfrm>
            <a:off x="609598" y="2713931"/>
            <a:ext cx="6993277" cy="3534469"/>
          </a:xfrm>
        </p:spPr>
        <p:txBody>
          <a:bodyPr/>
          <a:lstStyle/>
          <a:p>
            <a:pPr marL="0" indent="0">
              <a:buNone/>
            </a:pPr>
            <a:r>
              <a:rPr lang="en-US" dirty="0"/>
              <a:t>	</a:t>
            </a:r>
            <a:r>
              <a:rPr lang="vi-VN" dirty="0"/>
              <a:t>Hệ thống được triển khai toàn bộ trên môi trường Kaggle Notebook, sử dụng GPU tốc độ cao giúp rút ngắn thời gian huấn luyện của mô hình xuống chỉ còn vài phút mỗi epoch. Bộ dữ liệu Food-5K được chia theo cấu trúc: </a:t>
            </a:r>
            <a:endParaRPr lang="en-SG" dirty="0"/>
          </a:p>
          <a:p>
            <a:pPr marL="0" indent="0">
              <a:buNone/>
            </a:pPr>
            <a:endParaRPr lang="en-US" dirty="0"/>
          </a:p>
          <a:p>
            <a:r>
              <a:rPr lang="en-US" dirty="0"/>
              <a:t>Training: 1500 Food – 1500 Non-Food</a:t>
            </a:r>
          </a:p>
          <a:p>
            <a:r>
              <a:rPr lang="en-US" dirty="0"/>
              <a:t>Validation: 500 Food – 500 Non-Food</a:t>
            </a:r>
          </a:p>
          <a:p>
            <a:r>
              <a:rPr lang="en-US" dirty="0"/>
              <a:t>Test: 500 Food – 500 Non-Food</a:t>
            </a:r>
          </a:p>
          <a:p>
            <a:r>
              <a:rPr lang="en-US" dirty="0" err="1"/>
              <a:t>Nguồn</a:t>
            </a:r>
            <a:r>
              <a:rPr lang="en-US" dirty="0"/>
              <a:t> </a:t>
            </a:r>
            <a:r>
              <a:rPr lang="en-US" dirty="0" err="1"/>
              <a:t>dữ</a:t>
            </a:r>
            <a:r>
              <a:rPr lang="en-US" dirty="0"/>
              <a:t> </a:t>
            </a:r>
            <a:r>
              <a:rPr lang="en-US" dirty="0" err="1"/>
              <a:t>liệu</a:t>
            </a:r>
            <a:r>
              <a:rPr lang="en-US" dirty="0"/>
              <a:t>: Food-5K Kaggle</a:t>
            </a:r>
          </a:p>
        </p:txBody>
      </p:sp>
      <p:sp>
        <p:nvSpPr>
          <p:cNvPr id="9" name="Title 1">
            <a:extLst>
              <a:ext uri="{FF2B5EF4-FFF2-40B4-BE49-F238E27FC236}">
                <a16:creationId xmlns:a16="http://schemas.microsoft.com/office/drawing/2014/main" id="{1A784254-996E-7F1F-3D4E-14A8AFDE3338}"/>
              </a:ext>
            </a:extLst>
          </p:cNvPr>
          <p:cNvSpPr>
            <a:spLocks noGrp="1"/>
          </p:cNvSpPr>
          <p:nvPr>
            <p:ph type="title"/>
          </p:nvPr>
        </p:nvSpPr>
        <p:spPr>
          <a:xfrm>
            <a:off x="508000" y="609600"/>
            <a:ext cx="5409915" cy="1320800"/>
          </a:xfrm>
        </p:spPr>
        <p:txBody>
          <a:bodyPr>
            <a:normAutofit/>
          </a:bodyPr>
          <a:lstStyle/>
          <a:p>
            <a:r>
              <a:rPr lang="en-SG" dirty="0" err="1"/>
              <a:t>II.Phương</a:t>
            </a:r>
            <a:r>
              <a:rPr lang="en-SG" dirty="0"/>
              <a:t> </a:t>
            </a:r>
            <a:r>
              <a:rPr lang="en-SG" dirty="0" err="1"/>
              <a:t>pháp</a:t>
            </a:r>
            <a:r>
              <a:rPr lang="en-SG" dirty="0"/>
              <a:t> </a:t>
            </a:r>
            <a:r>
              <a:rPr lang="en-SG" dirty="0" err="1"/>
              <a:t>nghiên</a:t>
            </a:r>
            <a:r>
              <a:rPr lang="en-SG" dirty="0"/>
              <a:t> </a:t>
            </a:r>
            <a:r>
              <a:rPr lang="en-SG" dirty="0" err="1"/>
              <a:t>cứu</a:t>
            </a:r>
            <a:r>
              <a:rPr lang="en-SG" dirty="0"/>
              <a:t> &amp; </a:t>
            </a:r>
            <a:r>
              <a:rPr lang="en-SG" dirty="0" err="1"/>
              <a:t>triển</a:t>
            </a:r>
            <a:r>
              <a:rPr lang="en-SG" dirty="0"/>
              <a:t> </a:t>
            </a:r>
            <a:r>
              <a:rPr lang="en-SG" dirty="0" err="1"/>
              <a:t>khai</a:t>
            </a:r>
            <a:endParaRPr dirty="0"/>
          </a:p>
        </p:txBody>
      </p:sp>
    </p:spTree>
    <p:extLst>
      <p:ext uri="{BB962C8B-B14F-4D97-AF65-F5344CB8AC3E}">
        <p14:creationId xmlns:p14="http://schemas.microsoft.com/office/powerpoint/2010/main" val="3357285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15015E-C3A3-4F78-5B48-4A6A1DB7453A}"/>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2660B888-9701-DB19-1877-BD3E8361ABB7}"/>
              </a:ext>
            </a:extLst>
          </p:cNvPr>
          <p:cNvSpPr txBox="1">
            <a:spLocks/>
          </p:cNvSpPr>
          <p:nvPr/>
        </p:nvSpPr>
        <p:spPr>
          <a:xfrm>
            <a:off x="609598" y="1673776"/>
            <a:ext cx="6736423" cy="43323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vi-VN" dirty="0"/>
          </a:p>
        </p:txBody>
      </p:sp>
      <p:sp>
        <p:nvSpPr>
          <p:cNvPr id="9" name="Title 1">
            <a:extLst>
              <a:ext uri="{FF2B5EF4-FFF2-40B4-BE49-F238E27FC236}">
                <a16:creationId xmlns:a16="http://schemas.microsoft.com/office/drawing/2014/main" id="{B83BC1E4-5DD2-833C-72FD-03E81A2E74F9}"/>
              </a:ext>
            </a:extLst>
          </p:cNvPr>
          <p:cNvSpPr>
            <a:spLocks noGrp="1"/>
          </p:cNvSpPr>
          <p:nvPr>
            <p:ph type="title"/>
          </p:nvPr>
        </p:nvSpPr>
        <p:spPr>
          <a:xfrm>
            <a:off x="474101" y="306779"/>
            <a:ext cx="5409915" cy="1320800"/>
          </a:xfrm>
        </p:spPr>
        <p:txBody>
          <a:bodyPr>
            <a:normAutofit/>
          </a:bodyPr>
          <a:lstStyle/>
          <a:p>
            <a:r>
              <a:rPr lang="en-SG" dirty="0" err="1"/>
              <a:t>II.Phương</a:t>
            </a:r>
            <a:r>
              <a:rPr lang="en-SG" dirty="0"/>
              <a:t> </a:t>
            </a:r>
            <a:r>
              <a:rPr lang="en-SG" dirty="0" err="1"/>
              <a:t>pháp</a:t>
            </a:r>
            <a:r>
              <a:rPr lang="en-SG" dirty="0"/>
              <a:t> </a:t>
            </a:r>
            <a:r>
              <a:rPr lang="en-SG" dirty="0" err="1"/>
              <a:t>nghiên</a:t>
            </a:r>
            <a:r>
              <a:rPr lang="en-SG" dirty="0"/>
              <a:t> </a:t>
            </a:r>
            <a:r>
              <a:rPr lang="en-SG" dirty="0" err="1"/>
              <a:t>cứu</a:t>
            </a:r>
            <a:r>
              <a:rPr lang="en-SG" dirty="0"/>
              <a:t> &amp; </a:t>
            </a:r>
            <a:r>
              <a:rPr lang="en-SG" dirty="0" err="1"/>
              <a:t>triển</a:t>
            </a:r>
            <a:r>
              <a:rPr lang="en-SG" dirty="0"/>
              <a:t> </a:t>
            </a:r>
            <a:r>
              <a:rPr lang="en-SG" dirty="0" err="1"/>
              <a:t>khai</a:t>
            </a:r>
            <a:endParaRPr dirty="0"/>
          </a:p>
        </p:txBody>
      </p:sp>
      <p:pic>
        <p:nvPicPr>
          <p:cNvPr id="7" name="Picture 6">
            <a:extLst>
              <a:ext uri="{FF2B5EF4-FFF2-40B4-BE49-F238E27FC236}">
                <a16:creationId xmlns:a16="http://schemas.microsoft.com/office/drawing/2014/main" id="{9FF0C43F-7884-3C87-AC5C-F892504E7D3A}"/>
              </a:ext>
            </a:extLst>
          </p:cNvPr>
          <p:cNvPicPr>
            <a:picLocks noChangeAspect="1"/>
          </p:cNvPicPr>
          <p:nvPr/>
        </p:nvPicPr>
        <p:blipFill>
          <a:blip r:embed="rId2"/>
          <a:srcRect l="18539" t="25755" r="3371" b="7490"/>
          <a:stretch>
            <a:fillRect/>
          </a:stretch>
        </p:blipFill>
        <p:spPr>
          <a:xfrm>
            <a:off x="474101" y="2295399"/>
            <a:ext cx="8195797" cy="3940977"/>
          </a:xfrm>
          <a:prstGeom prst="rect">
            <a:avLst/>
          </a:prstGeom>
        </p:spPr>
      </p:pic>
      <p:sp>
        <p:nvSpPr>
          <p:cNvPr id="8" name="Content Placeholder 5">
            <a:extLst>
              <a:ext uri="{FF2B5EF4-FFF2-40B4-BE49-F238E27FC236}">
                <a16:creationId xmlns:a16="http://schemas.microsoft.com/office/drawing/2014/main" id="{341D0C18-E7CF-E3EE-80D5-5D667B4AC140}"/>
              </a:ext>
            </a:extLst>
          </p:cNvPr>
          <p:cNvSpPr>
            <a:spLocks noGrp="1"/>
          </p:cNvSpPr>
          <p:nvPr>
            <p:ph idx="1"/>
          </p:nvPr>
        </p:nvSpPr>
        <p:spPr>
          <a:xfrm>
            <a:off x="338605" y="1673776"/>
            <a:ext cx="7572496" cy="5184224"/>
          </a:xfrm>
        </p:spPr>
        <p:txBody>
          <a:bodyPr>
            <a:normAutofit/>
          </a:bodyPr>
          <a:lstStyle/>
          <a:p>
            <a:pPr marL="0" indent="0">
              <a:buNone/>
            </a:pPr>
            <a:r>
              <a:rPr lang="en-US" dirty="0"/>
              <a:t>Dataset </a:t>
            </a:r>
            <a:r>
              <a:rPr lang="en-US" dirty="0" err="1"/>
              <a:t>được</a:t>
            </a:r>
            <a:r>
              <a:rPr lang="en-US" dirty="0"/>
              <a:t> </a:t>
            </a:r>
            <a:r>
              <a:rPr lang="en-US" dirty="0" err="1"/>
              <a:t>sử</a:t>
            </a:r>
            <a:r>
              <a:rPr lang="en-US" dirty="0"/>
              <a:t> </a:t>
            </a:r>
            <a:r>
              <a:rPr lang="en-US" dirty="0" err="1"/>
              <a:t>dụng</a:t>
            </a:r>
            <a:r>
              <a:rPr lang="en-US" dirty="0"/>
              <a:t> </a:t>
            </a:r>
            <a:r>
              <a:rPr lang="en-US" dirty="0" err="1"/>
              <a:t>cho</a:t>
            </a:r>
            <a:r>
              <a:rPr lang="en-US" dirty="0"/>
              <a:t> </a:t>
            </a:r>
            <a:r>
              <a:rPr lang="en-US" dirty="0" err="1"/>
              <a:t>mô</a:t>
            </a:r>
            <a:r>
              <a:rPr lang="en-US" dirty="0"/>
              <a:t> </a:t>
            </a:r>
            <a:r>
              <a:rPr lang="en-US" dirty="0" err="1"/>
              <a:t>hình</a:t>
            </a: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89405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4DE960-18D2-8DA1-3201-F919AD4F3118}"/>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03B1E0DC-4676-21D0-C3F3-B9ADEB1B84F2}"/>
              </a:ext>
            </a:extLst>
          </p:cNvPr>
          <p:cNvSpPr txBox="1">
            <a:spLocks/>
          </p:cNvSpPr>
          <p:nvPr/>
        </p:nvSpPr>
        <p:spPr>
          <a:xfrm>
            <a:off x="609598" y="1673776"/>
            <a:ext cx="6736423" cy="43323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vi-VN" dirty="0"/>
          </a:p>
        </p:txBody>
      </p:sp>
      <p:sp>
        <p:nvSpPr>
          <p:cNvPr id="9" name="Title 1">
            <a:extLst>
              <a:ext uri="{FF2B5EF4-FFF2-40B4-BE49-F238E27FC236}">
                <a16:creationId xmlns:a16="http://schemas.microsoft.com/office/drawing/2014/main" id="{0B417D64-5893-8CBD-0B7E-390CA194B394}"/>
              </a:ext>
            </a:extLst>
          </p:cNvPr>
          <p:cNvSpPr>
            <a:spLocks noGrp="1"/>
          </p:cNvSpPr>
          <p:nvPr>
            <p:ph type="title"/>
          </p:nvPr>
        </p:nvSpPr>
        <p:spPr>
          <a:xfrm>
            <a:off x="474101" y="306779"/>
            <a:ext cx="5409915" cy="1320800"/>
          </a:xfrm>
        </p:spPr>
        <p:txBody>
          <a:bodyPr>
            <a:normAutofit/>
          </a:bodyPr>
          <a:lstStyle/>
          <a:p>
            <a:r>
              <a:rPr lang="en-SG" dirty="0" err="1"/>
              <a:t>II.Phương</a:t>
            </a:r>
            <a:r>
              <a:rPr lang="en-SG" dirty="0"/>
              <a:t> </a:t>
            </a:r>
            <a:r>
              <a:rPr lang="en-SG" dirty="0" err="1"/>
              <a:t>pháp</a:t>
            </a:r>
            <a:r>
              <a:rPr lang="en-SG" dirty="0"/>
              <a:t> </a:t>
            </a:r>
            <a:r>
              <a:rPr lang="en-SG" dirty="0" err="1"/>
              <a:t>nghiên</a:t>
            </a:r>
            <a:r>
              <a:rPr lang="en-SG" dirty="0"/>
              <a:t> </a:t>
            </a:r>
            <a:r>
              <a:rPr lang="en-SG" dirty="0" err="1"/>
              <a:t>cứu</a:t>
            </a:r>
            <a:r>
              <a:rPr lang="en-SG" dirty="0"/>
              <a:t> &amp; </a:t>
            </a:r>
            <a:r>
              <a:rPr lang="en-SG" dirty="0" err="1"/>
              <a:t>triển</a:t>
            </a:r>
            <a:r>
              <a:rPr lang="en-SG" dirty="0"/>
              <a:t> </a:t>
            </a:r>
            <a:r>
              <a:rPr lang="en-SG" dirty="0" err="1"/>
              <a:t>khai</a:t>
            </a:r>
            <a:endParaRPr dirty="0"/>
          </a:p>
        </p:txBody>
      </p:sp>
      <p:sp>
        <p:nvSpPr>
          <p:cNvPr id="6" name="Content Placeholder 5">
            <a:extLst>
              <a:ext uri="{FF2B5EF4-FFF2-40B4-BE49-F238E27FC236}">
                <a16:creationId xmlns:a16="http://schemas.microsoft.com/office/drawing/2014/main" id="{CB3B86E5-045B-F401-32EB-E6FBE8A99CB3}"/>
              </a:ext>
            </a:extLst>
          </p:cNvPr>
          <p:cNvSpPr txBox="1">
            <a:spLocks/>
          </p:cNvSpPr>
          <p:nvPr/>
        </p:nvSpPr>
        <p:spPr>
          <a:xfrm>
            <a:off x="474101" y="1871342"/>
            <a:ext cx="7572496" cy="467987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dirty="0" err="1"/>
              <a:t>Hình</a:t>
            </a:r>
            <a:r>
              <a:rPr lang="en-US" dirty="0"/>
              <a:t> </a:t>
            </a:r>
            <a:r>
              <a:rPr lang="en-US" dirty="0" err="1"/>
              <a:t>ảnh</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huấn</a:t>
            </a:r>
            <a:r>
              <a:rPr lang="en-US" dirty="0"/>
              <a:t> </a:t>
            </a:r>
            <a:r>
              <a:rPr lang="en-US" dirty="0" err="1"/>
              <a:t>cho</a:t>
            </a:r>
            <a:r>
              <a:rPr lang="en-US" dirty="0"/>
              <a:t> </a:t>
            </a:r>
            <a:r>
              <a:rPr lang="en-US" dirty="0" err="1"/>
              <a:t>mô</a:t>
            </a:r>
            <a:r>
              <a:rPr lang="en-US" dirty="0"/>
              <a:t> </a:t>
            </a:r>
            <a:r>
              <a:rPr lang="en-US" dirty="0" err="1"/>
              <a:t>hình</a:t>
            </a:r>
            <a:r>
              <a:rPr lang="en-US" dirty="0"/>
              <a:t> </a:t>
            </a:r>
            <a:r>
              <a:rPr lang="en-US" dirty="0" err="1"/>
              <a:t>trong</a:t>
            </a:r>
            <a:r>
              <a:rPr lang="en-US" dirty="0"/>
              <a:t> dataset :</a:t>
            </a:r>
          </a:p>
          <a:p>
            <a:pPr marL="0" indent="0">
              <a:buFont typeface="Wingdings 3" charset="2"/>
              <a:buNone/>
            </a:pPr>
            <a:endParaRPr lang="en-US" dirty="0"/>
          </a:p>
          <a:p>
            <a:pPr marL="0" indent="0">
              <a:buNone/>
            </a:pPr>
            <a:r>
              <a:rPr lang="en-US" dirty="0"/>
              <a:t>- </a:t>
            </a:r>
            <a:r>
              <a:rPr lang="en-US" dirty="0" err="1"/>
              <a:t>Đường</a:t>
            </a:r>
            <a:r>
              <a:rPr lang="en-US" dirty="0"/>
              <a:t> </a:t>
            </a:r>
            <a:r>
              <a:rPr lang="en-US" dirty="0" err="1"/>
              <a:t>dẫn</a:t>
            </a:r>
            <a:r>
              <a:rPr lang="en-US" dirty="0"/>
              <a:t> </a:t>
            </a:r>
            <a:r>
              <a:rPr lang="en-US" dirty="0" err="1"/>
              <a:t>tới</a:t>
            </a:r>
            <a:r>
              <a:rPr lang="en-US" dirty="0"/>
              <a:t> dataset:</a:t>
            </a:r>
          </a:p>
          <a:p>
            <a:pPr marL="0" indent="0">
              <a:buNone/>
            </a:pPr>
            <a:r>
              <a:rPr lang="en-US" dirty="0">
                <a:hlinkClick r:id="rId2"/>
              </a:rPr>
              <a:t>https://www.kaggle.com/datasets/trolukovich/food5k-image-dataset</a:t>
            </a:r>
            <a:endParaRPr lang="en-US" dirty="0"/>
          </a:p>
          <a:p>
            <a:pPr marL="0" indent="0">
              <a:buNone/>
            </a:pPr>
            <a:r>
              <a:rPr lang="en-US" dirty="0"/>
              <a:t>	</a:t>
            </a:r>
          </a:p>
          <a:p>
            <a:pPr marL="0" indent="0">
              <a:buNone/>
            </a:pPr>
            <a:r>
              <a:rPr lang="en-US" dirty="0"/>
              <a:t>- </a:t>
            </a:r>
            <a:r>
              <a:rPr lang="en-US" dirty="0" err="1"/>
              <a:t>Đường</a:t>
            </a:r>
            <a:r>
              <a:rPr lang="en-US" dirty="0"/>
              <a:t> </a:t>
            </a:r>
            <a:r>
              <a:rPr lang="en-US" dirty="0" err="1"/>
              <a:t>dẫn</a:t>
            </a:r>
            <a:r>
              <a:rPr lang="en-US" dirty="0"/>
              <a:t> </a:t>
            </a:r>
            <a:r>
              <a:rPr lang="en-US" dirty="0" err="1"/>
              <a:t>tới</a:t>
            </a:r>
            <a:r>
              <a:rPr lang="en-US" dirty="0"/>
              <a:t> video </a:t>
            </a:r>
            <a:r>
              <a:rPr lang="en-US" dirty="0" err="1"/>
              <a:t>hướng</a:t>
            </a:r>
            <a:r>
              <a:rPr lang="en-US" dirty="0"/>
              <a:t> </a:t>
            </a:r>
            <a:r>
              <a:rPr lang="en-US" dirty="0" err="1"/>
              <a:t>dẫn</a:t>
            </a:r>
            <a:r>
              <a:rPr lang="en-US" dirty="0"/>
              <a:t> </a:t>
            </a:r>
            <a:r>
              <a:rPr lang="en-US" dirty="0" err="1"/>
              <a:t>xem</a:t>
            </a:r>
            <a:r>
              <a:rPr lang="en-US" dirty="0"/>
              <a:t> dataset:</a:t>
            </a:r>
          </a:p>
          <a:p>
            <a:pPr marL="0" indent="0">
              <a:buNone/>
            </a:pPr>
            <a:r>
              <a:rPr lang="en-US" dirty="0">
                <a:hlinkClick r:id="rId3"/>
              </a:rPr>
              <a:t>https://drive.google.com/drive/folders/1P8jV1OOCrvt2VOVmOt5_RDKhry2nTfQ-?usp=sharing</a:t>
            </a:r>
            <a:r>
              <a:rPr lang="en-US" dirty="0"/>
              <a:t>	</a:t>
            </a:r>
          </a:p>
        </p:txBody>
      </p:sp>
    </p:spTree>
    <p:extLst>
      <p:ext uri="{BB962C8B-B14F-4D97-AF65-F5344CB8AC3E}">
        <p14:creationId xmlns:p14="http://schemas.microsoft.com/office/powerpoint/2010/main" val="3371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3C5629-1EE5-B226-25CD-B95F72147BB8}"/>
              </a:ext>
            </a:extLst>
          </p:cNvPr>
          <p:cNvSpPr txBox="1"/>
          <p:nvPr/>
        </p:nvSpPr>
        <p:spPr>
          <a:xfrm>
            <a:off x="498297" y="2368482"/>
            <a:ext cx="8147406" cy="3924151"/>
          </a:xfrm>
          <a:prstGeom prst="rect">
            <a:avLst/>
          </a:prstGeom>
          <a:noFill/>
        </p:spPr>
        <p:txBody>
          <a:bodyPr wrap="square">
            <a:spAutoFit/>
          </a:bodyPr>
          <a:lstStyle/>
          <a:p>
            <a:pPr algn="l">
              <a:spcBef>
                <a:spcPts val="1200"/>
              </a:spcBef>
              <a:spcAft>
                <a:spcPts val="1200"/>
              </a:spcAft>
              <a:buNone/>
            </a:pPr>
            <a:r>
              <a:rPr lang="en-SG" i="0" dirty="0">
                <a:solidFill>
                  <a:srgbClr val="0F1115"/>
                </a:solidFill>
                <a:effectLst/>
                <a:latin typeface="quote-cjk-patch"/>
              </a:rPr>
              <a:t>Các </a:t>
            </a:r>
            <a:r>
              <a:rPr lang="en-SG" dirty="0">
                <a:solidFill>
                  <a:srgbClr val="0F1115"/>
                </a:solidFill>
                <a:latin typeface="quote-cjk-patch"/>
              </a:rPr>
              <a:t>c</a:t>
            </a:r>
            <a:r>
              <a:rPr lang="vi-VN" i="0" dirty="0">
                <a:solidFill>
                  <a:srgbClr val="0F1115"/>
                </a:solidFill>
                <a:effectLst/>
                <a:latin typeface="quote-cjk-patch"/>
              </a:rPr>
              <a:t>ông cụ </a:t>
            </a:r>
            <a:r>
              <a:rPr lang="en-SG" i="0" dirty="0" err="1">
                <a:solidFill>
                  <a:srgbClr val="0F1115"/>
                </a:solidFill>
                <a:effectLst/>
                <a:latin typeface="quote-cjk-patch"/>
              </a:rPr>
              <a:t>được</a:t>
            </a:r>
            <a:r>
              <a:rPr lang="en-SG" i="0" dirty="0">
                <a:solidFill>
                  <a:srgbClr val="0F1115"/>
                </a:solidFill>
                <a:effectLst/>
                <a:latin typeface="quote-cjk-patch"/>
              </a:rPr>
              <a:t> </a:t>
            </a:r>
            <a:r>
              <a:rPr lang="en-SG" i="0" dirty="0" err="1">
                <a:solidFill>
                  <a:srgbClr val="0F1115"/>
                </a:solidFill>
                <a:effectLst/>
                <a:latin typeface="quote-cjk-patch"/>
              </a:rPr>
              <a:t>sử</a:t>
            </a:r>
            <a:r>
              <a:rPr lang="en-SG" i="0" dirty="0">
                <a:solidFill>
                  <a:srgbClr val="0F1115"/>
                </a:solidFill>
                <a:effectLst/>
                <a:latin typeface="quote-cjk-patch"/>
              </a:rPr>
              <a:t> </a:t>
            </a:r>
            <a:r>
              <a:rPr lang="en-SG" i="0" dirty="0" err="1">
                <a:solidFill>
                  <a:srgbClr val="0F1115"/>
                </a:solidFill>
                <a:effectLst/>
                <a:latin typeface="quote-cjk-patch"/>
              </a:rPr>
              <a:t>dụng</a:t>
            </a:r>
            <a:r>
              <a:rPr lang="en-SG" i="0" dirty="0">
                <a:solidFill>
                  <a:srgbClr val="0F1115"/>
                </a:solidFill>
                <a:effectLst/>
                <a:latin typeface="quote-cjk-patch"/>
              </a:rPr>
              <a:t> </a:t>
            </a:r>
            <a:r>
              <a:rPr lang="en-SG" i="0" dirty="0" err="1">
                <a:solidFill>
                  <a:srgbClr val="0F1115"/>
                </a:solidFill>
                <a:effectLst/>
                <a:latin typeface="quote-cjk-patch"/>
              </a:rPr>
              <a:t>để</a:t>
            </a:r>
            <a:r>
              <a:rPr lang="en-SG" i="0" dirty="0">
                <a:solidFill>
                  <a:srgbClr val="0F1115"/>
                </a:solidFill>
                <a:effectLst/>
                <a:latin typeface="quote-cjk-patch"/>
              </a:rPr>
              <a:t> </a:t>
            </a:r>
            <a:r>
              <a:rPr lang="en-SG" i="0" dirty="0" err="1">
                <a:solidFill>
                  <a:srgbClr val="0F1115"/>
                </a:solidFill>
                <a:effectLst/>
                <a:latin typeface="quote-cjk-patch"/>
              </a:rPr>
              <a:t>huấn</a:t>
            </a:r>
            <a:r>
              <a:rPr lang="en-SG" i="0" dirty="0">
                <a:solidFill>
                  <a:srgbClr val="0F1115"/>
                </a:solidFill>
                <a:effectLst/>
                <a:latin typeface="quote-cjk-patch"/>
              </a:rPr>
              <a:t> </a:t>
            </a:r>
            <a:r>
              <a:rPr lang="en-SG" i="0" dirty="0" err="1">
                <a:solidFill>
                  <a:srgbClr val="0F1115"/>
                </a:solidFill>
                <a:effectLst/>
                <a:latin typeface="quote-cjk-patch"/>
              </a:rPr>
              <a:t>luyện</a:t>
            </a:r>
            <a:r>
              <a:rPr lang="en-SG" i="0" dirty="0">
                <a:solidFill>
                  <a:srgbClr val="0F1115"/>
                </a:solidFill>
                <a:effectLst/>
                <a:latin typeface="quote-cjk-patch"/>
              </a:rPr>
              <a:t> </a:t>
            </a:r>
            <a:r>
              <a:rPr lang="en-SG" i="0" dirty="0" err="1">
                <a:solidFill>
                  <a:srgbClr val="0F1115"/>
                </a:solidFill>
                <a:effectLst/>
                <a:latin typeface="quote-cjk-patch"/>
              </a:rPr>
              <a:t>mô</a:t>
            </a:r>
            <a:r>
              <a:rPr lang="en-SG" i="0" dirty="0">
                <a:solidFill>
                  <a:srgbClr val="0F1115"/>
                </a:solidFill>
                <a:effectLst/>
                <a:latin typeface="quote-cjk-patch"/>
              </a:rPr>
              <a:t> </a:t>
            </a:r>
            <a:r>
              <a:rPr lang="en-SG" i="0" dirty="0" err="1">
                <a:solidFill>
                  <a:srgbClr val="0F1115"/>
                </a:solidFill>
                <a:effectLst/>
                <a:latin typeface="quote-cjk-patch"/>
              </a:rPr>
              <a:t>hình</a:t>
            </a:r>
            <a:r>
              <a:rPr lang="en-SG" i="0" dirty="0">
                <a:solidFill>
                  <a:srgbClr val="0F1115"/>
                </a:solidFill>
                <a:effectLst/>
                <a:latin typeface="quote-cjk-patch"/>
              </a:rPr>
              <a:t>:</a:t>
            </a:r>
            <a:endParaRPr lang="vi-VN" i="0"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vi-VN" b="1" i="0" dirty="0">
                <a:solidFill>
                  <a:srgbClr val="0F1115"/>
                </a:solidFill>
                <a:effectLst/>
                <a:latin typeface="quote-cjk-patch"/>
              </a:rPr>
              <a:t>TensorFlow/Keras:</a:t>
            </a:r>
            <a:r>
              <a:rPr lang="vi-VN" b="0" i="0" dirty="0">
                <a:solidFill>
                  <a:srgbClr val="0F1115"/>
                </a:solidFill>
                <a:effectLst/>
                <a:latin typeface="quote-cjk-patch"/>
              </a:rPr>
              <a:t> Xây dựng, fine-tune và huấn luyện mô hình CNN.</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ImageDataGenerator:</a:t>
            </a:r>
            <a:r>
              <a:rPr lang="vi-VN" b="0" i="0" dirty="0">
                <a:solidFill>
                  <a:srgbClr val="0F1115"/>
                </a:solidFill>
                <a:effectLst/>
                <a:latin typeface="quote-cjk-patch"/>
              </a:rPr>
              <a:t> Tiền xử lý ảnh và tăng cường dữ liệu tự động.</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Scikit-learn:</a:t>
            </a:r>
            <a:r>
              <a:rPr lang="vi-VN" b="0" i="0" dirty="0">
                <a:solidFill>
                  <a:srgbClr val="0F1115"/>
                </a:solidFill>
                <a:effectLst/>
                <a:latin typeface="quote-cjk-patch"/>
              </a:rPr>
              <a:t> Sinh báo cáo đánh giá và ma trận nhầm lẫn.</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Matplotlib/Seaborn:</a:t>
            </a:r>
            <a:r>
              <a:rPr lang="vi-VN" b="0" i="0" dirty="0">
                <a:solidFill>
                  <a:srgbClr val="0F1115"/>
                </a:solidFill>
                <a:effectLst/>
                <a:latin typeface="quote-cjk-patch"/>
              </a:rPr>
              <a:t> Vẽ biểu đồ training loss/accuracy và confusion matrix.</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Kaggle Notebook GPU:</a:t>
            </a:r>
            <a:r>
              <a:rPr lang="vi-VN" b="0" i="0" dirty="0">
                <a:solidFill>
                  <a:srgbClr val="0F1115"/>
                </a:solidFill>
                <a:effectLst/>
                <a:latin typeface="quote-cjk-patch"/>
              </a:rPr>
              <a:t> Môi trường chạy mô hình nhanh, ổn định.</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NumPy/Pandas:</a:t>
            </a:r>
            <a:r>
              <a:rPr lang="vi-VN" b="0" i="0" dirty="0">
                <a:solidFill>
                  <a:srgbClr val="0F1115"/>
                </a:solidFill>
                <a:effectLst/>
                <a:latin typeface="quote-cjk-patch"/>
              </a:rPr>
              <a:t> Xử lý dữ liệu và các thao tác toán học.</a:t>
            </a:r>
          </a:p>
          <a:p>
            <a:pPr algn="l">
              <a:spcBef>
                <a:spcPts val="450"/>
              </a:spcBef>
              <a:spcAft>
                <a:spcPts val="1200"/>
              </a:spcAft>
              <a:buFont typeface="Arial" panose="020B0604020202020204" pitchFamily="34" charset="0"/>
              <a:buChar char="•"/>
            </a:pPr>
            <a:r>
              <a:rPr lang="vi-VN" b="1" i="0" dirty="0">
                <a:solidFill>
                  <a:srgbClr val="0F1115"/>
                </a:solidFill>
                <a:effectLst/>
                <a:latin typeface="quote-cjk-patch"/>
              </a:rPr>
              <a:t>OpenCV:</a:t>
            </a:r>
            <a:r>
              <a:rPr lang="vi-VN" b="0" i="0" dirty="0">
                <a:solidFill>
                  <a:srgbClr val="0F1115"/>
                </a:solidFill>
                <a:effectLst/>
                <a:latin typeface="quote-cjk-patch"/>
              </a:rPr>
              <a:t> Hỗ trợ đọc ảnh và xử lý nâng cao.</a:t>
            </a:r>
          </a:p>
        </p:txBody>
      </p:sp>
      <p:sp>
        <p:nvSpPr>
          <p:cNvPr id="16" name="Title 1">
            <a:extLst>
              <a:ext uri="{FF2B5EF4-FFF2-40B4-BE49-F238E27FC236}">
                <a16:creationId xmlns:a16="http://schemas.microsoft.com/office/drawing/2014/main" id="{DC9470CB-7C81-517A-4002-309C67B1FC1A}"/>
              </a:ext>
            </a:extLst>
          </p:cNvPr>
          <p:cNvSpPr txBox="1">
            <a:spLocks/>
          </p:cNvSpPr>
          <p:nvPr/>
        </p:nvSpPr>
        <p:spPr>
          <a:xfrm>
            <a:off x="498297" y="645826"/>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C71E48-BF32-8615-C92E-5265C6D311B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7ED3B25-8445-3335-E646-833266AC0FAD}"/>
              </a:ext>
            </a:extLst>
          </p:cNvPr>
          <p:cNvSpPr txBox="1"/>
          <p:nvPr/>
        </p:nvSpPr>
        <p:spPr>
          <a:xfrm>
            <a:off x="498297" y="2149019"/>
            <a:ext cx="8147406" cy="4124206"/>
          </a:xfrm>
          <a:prstGeom prst="rect">
            <a:avLst/>
          </a:prstGeom>
          <a:noFill/>
        </p:spPr>
        <p:txBody>
          <a:bodyPr wrap="square">
            <a:spAutoFit/>
          </a:bodyPr>
          <a:lstStyle/>
          <a:p>
            <a:pPr>
              <a:spcBef>
                <a:spcPts val="1200"/>
              </a:spcBef>
              <a:spcAft>
                <a:spcPts val="1200"/>
              </a:spcAft>
            </a:pPr>
            <a:r>
              <a:rPr lang="vi-VN" dirty="0"/>
              <a:t>Hệ thống mã nguồn được tổ chức theo mô hình module hóa, dễ dàng cho việc bảo trì và mở rộng. Cấu trúc chi tiết như sau: </a:t>
            </a:r>
            <a:endParaRPr lang="en-SG" dirty="0"/>
          </a:p>
          <a:p>
            <a:pPr>
              <a:spcBef>
                <a:spcPts val="1200"/>
              </a:spcBef>
              <a:spcAft>
                <a:spcPts val="1200"/>
              </a:spcAft>
            </a:pPr>
            <a:r>
              <a:rPr lang="vi-VN" dirty="0"/>
              <a:t>Module Tiền xử lý dữ liệu (Data Preprocessing): </a:t>
            </a:r>
            <a:endParaRPr lang="en-SG" dirty="0"/>
          </a:p>
          <a:p>
            <a:pPr>
              <a:spcBef>
                <a:spcPts val="1200"/>
              </a:spcBef>
              <a:spcAft>
                <a:spcPts val="1200"/>
              </a:spcAft>
            </a:pPr>
            <a:r>
              <a:rPr lang="vi-VN" dirty="0"/>
              <a:t>• Sử dụng ImageDataGenerator của Keras để tạo data pipeline</a:t>
            </a:r>
            <a:endParaRPr lang="en-SG" dirty="0"/>
          </a:p>
          <a:p>
            <a:pPr>
              <a:spcBef>
                <a:spcPts val="1200"/>
              </a:spcBef>
              <a:spcAft>
                <a:spcPts val="1200"/>
              </a:spcAft>
            </a:pPr>
            <a:r>
              <a:rPr lang="vi-VN" dirty="0"/>
              <a:t>• Áp dụng data augmentation: xoay ngẫu nhiên (20°), dịch chuyển (10%), zoom (10%), lật ngang </a:t>
            </a:r>
            <a:endParaRPr lang="en-SG" dirty="0"/>
          </a:p>
          <a:p>
            <a:pPr>
              <a:spcBef>
                <a:spcPts val="1200"/>
              </a:spcBef>
              <a:spcAft>
                <a:spcPts val="1200"/>
              </a:spcAft>
            </a:pPr>
            <a:r>
              <a:rPr lang="vi-VN" dirty="0"/>
              <a:t>• Chuẩn hóa pixel values về khoảng [0,1] hoặc theo chuẩn ResNet50</a:t>
            </a:r>
            <a:endParaRPr lang="en-SG" dirty="0"/>
          </a:p>
          <a:p>
            <a:pPr>
              <a:spcBef>
                <a:spcPts val="1200"/>
              </a:spcBef>
              <a:spcAft>
                <a:spcPts val="1200"/>
              </a:spcAft>
            </a:pPr>
            <a:r>
              <a:rPr lang="vi-VN" dirty="0"/>
              <a:t>• Chia dữ liệu thành 3 tập: train (3000 ảnh), validation (1000 ảnh), test (1000 ảnh) • Batch size: 32, image size: 224×224×3 </a:t>
            </a:r>
            <a:endParaRPr lang="vi-VN" b="0" i="0" dirty="0">
              <a:solidFill>
                <a:srgbClr val="0F1115"/>
              </a:solidFill>
              <a:effectLst/>
              <a:latin typeface="quote-cjk-patch"/>
            </a:endParaRPr>
          </a:p>
        </p:txBody>
      </p:sp>
      <p:sp>
        <p:nvSpPr>
          <p:cNvPr id="16" name="Title 1">
            <a:extLst>
              <a:ext uri="{FF2B5EF4-FFF2-40B4-BE49-F238E27FC236}">
                <a16:creationId xmlns:a16="http://schemas.microsoft.com/office/drawing/2014/main" id="{89BE3826-D873-8924-A408-6D09D39C5310}"/>
              </a:ext>
            </a:extLst>
          </p:cNvPr>
          <p:cNvSpPr txBox="1">
            <a:spLocks/>
          </p:cNvSpPr>
          <p:nvPr/>
        </p:nvSpPr>
        <p:spPr>
          <a:xfrm>
            <a:off x="498297" y="645826"/>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extLst>
      <p:ext uri="{BB962C8B-B14F-4D97-AF65-F5344CB8AC3E}">
        <p14:creationId xmlns:p14="http://schemas.microsoft.com/office/powerpoint/2010/main" val="270793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605D4F-C91F-C8ED-A19C-88A215C53A8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A236787-A0BE-8899-6626-C384C87724E0}"/>
              </a:ext>
            </a:extLst>
          </p:cNvPr>
          <p:cNvSpPr txBox="1"/>
          <p:nvPr/>
        </p:nvSpPr>
        <p:spPr>
          <a:xfrm>
            <a:off x="498297" y="2149019"/>
            <a:ext cx="8147406" cy="3570208"/>
          </a:xfrm>
          <a:prstGeom prst="rect">
            <a:avLst/>
          </a:prstGeom>
          <a:noFill/>
        </p:spPr>
        <p:txBody>
          <a:bodyPr wrap="square">
            <a:spAutoFit/>
          </a:bodyPr>
          <a:lstStyle/>
          <a:p>
            <a:pPr>
              <a:spcBef>
                <a:spcPts val="1200"/>
              </a:spcBef>
              <a:spcAft>
                <a:spcPts val="1200"/>
              </a:spcAft>
            </a:pPr>
            <a:r>
              <a:rPr lang="en-SG" dirty="0"/>
              <a:t>Module </a:t>
            </a:r>
            <a:r>
              <a:rPr lang="en-SG" dirty="0" err="1"/>
              <a:t>Xây</a:t>
            </a:r>
            <a:r>
              <a:rPr lang="en-SG" dirty="0"/>
              <a:t> </a:t>
            </a:r>
            <a:r>
              <a:rPr lang="en-SG" dirty="0" err="1"/>
              <a:t>dựng</a:t>
            </a:r>
            <a:r>
              <a:rPr lang="en-SG" dirty="0"/>
              <a:t> </a:t>
            </a:r>
            <a:r>
              <a:rPr lang="en-SG" dirty="0" err="1"/>
              <a:t>mô</a:t>
            </a:r>
            <a:r>
              <a:rPr lang="en-SG" dirty="0"/>
              <a:t> </a:t>
            </a:r>
            <a:r>
              <a:rPr lang="en-SG" dirty="0" err="1"/>
              <a:t>hình</a:t>
            </a:r>
            <a:r>
              <a:rPr lang="en-SG" dirty="0"/>
              <a:t> (Model Builder): </a:t>
            </a:r>
          </a:p>
          <a:p>
            <a:pPr>
              <a:spcBef>
                <a:spcPts val="1200"/>
              </a:spcBef>
              <a:spcAft>
                <a:spcPts val="1200"/>
              </a:spcAft>
            </a:pPr>
            <a:r>
              <a:rPr lang="en-SG" dirty="0"/>
              <a:t>• </a:t>
            </a:r>
            <a:r>
              <a:rPr lang="en-SG" dirty="0" err="1"/>
              <a:t>Khởi</a:t>
            </a:r>
            <a:r>
              <a:rPr lang="en-SG" dirty="0"/>
              <a:t> </a:t>
            </a:r>
            <a:r>
              <a:rPr lang="en-SG" dirty="0" err="1"/>
              <a:t>tạo</a:t>
            </a:r>
            <a:r>
              <a:rPr lang="en-SG" dirty="0"/>
              <a:t> ResNet50 </a:t>
            </a:r>
            <a:r>
              <a:rPr lang="en-SG" dirty="0" err="1"/>
              <a:t>với</a:t>
            </a:r>
            <a:r>
              <a:rPr lang="en-SG" dirty="0"/>
              <a:t> </a:t>
            </a:r>
            <a:r>
              <a:rPr lang="en-SG" dirty="0" err="1"/>
              <a:t>include_top</a:t>
            </a:r>
            <a:r>
              <a:rPr lang="en-SG" dirty="0"/>
              <a:t>=False </a:t>
            </a:r>
            <a:r>
              <a:rPr lang="en-SG" dirty="0" err="1"/>
              <a:t>và</a:t>
            </a:r>
            <a:r>
              <a:rPr lang="en-SG" dirty="0"/>
              <a:t> weights=’</a:t>
            </a:r>
            <a:r>
              <a:rPr lang="en-SG" dirty="0" err="1"/>
              <a:t>imagenet</a:t>
            </a:r>
            <a:r>
              <a:rPr lang="en-SG" dirty="0"/>
              <a:t>’ </a:t>
            </a:r>
          </a:p>
          <a:p>
            <a:pPr>
              <a:spcBef>
                <a:spcPts val="1200"/>
              </a:spcBef>
              <a:spcAft>
                <a:spcPts val="1200"/>
              </a:spcAft>
            </a:pPr>
            <a:r>
              <a:rPr lang="en-SG" dirty="0"/>
              <a:t>• Freeze </a:t>
            </a:r>
            <a:r>
              <a:rPr lang="en-SG" dirty="0" err="1"/>
              <a:t>toàn</a:t>
            </a:r>
            <a:r>
              <a:rPr lang="en-SG" dirty="0"/>
              <a:t> </a:t>
            </a:r>
            <a:r>
              <a:rPr lang="en-SG" dirty="0" err="1"/>
              <a:t>bộ</a:t>
            </a:r>
            <a:r>
              <a:rPr lang="en-SG" dirty="0"/>
              <a:t> </a:t>
            </a:r>
            <a:r>
              <a:rPr lang="en-SG" dirty="0" err="1"/>
              <a:t>các</a:t>
            </a:r>
            <a:r>
              <a:rPr lang="en-SG" dirty="0"/>
              <a:t> layer convolutional </a:t>
            </a:r>
            <a:r>
              <a:rPr lang="en-SG" dirty="0" err="1"/>
              <a:t>của</a:t>
            </a:r>
            <a:r>
              <a:rPr lang="en-SG" dirty="0"/>
              <a:t> ResNet50 </a:t>
            </a:r>
          </a:p>
          <a:p>
            <a:pPr>
              <a:spcBef>
                <a:spcPts val="1200"/>
              </a:spcBef>
              <a:spcAft>
                <a:spcPts val="1200"/>
              </a:spcAft>
            </a:pPr>
            <a:r>
              <a:rPr lang="en-SG" dirty="0"/>
              <a:t>• </a:t>
            </a:r>
            <a:r>
              <a:rPr lang="en-SG" dirty="0" err="1"/>
              <a:t>Thêm</a:t>
            </a:r>
            <a:r>
              <a:rPr lang="en-SG" dirty="0"/>
              <a:t> custom head: </a:t>
            </a:r>
          </a:p>
          <a:p>
            <a:pPr>
              <a:spcBef>
                <a:spcPts val="1200"/>
              </a:spcBef>
              <a:spcAft>
                <a:spcPts val="1200"/>
              </a:spcAft>
            </a:pPr>
            <a:r>
              <a:rPr lang="en-SG" dirty="0"/>
              <a:t>GlobalAveragePooling2D → Dense(512, </a:t>
            </a:r>
            <a:r>
              <a:rPr lang="en-SG" dirty="0" err="1"/>
              <a:t>ReLU</a:t>
            </a:r>
            <a:r>
              <a:rPr lang="en-SG" dirty="0"/>
              <a:t>) → Dropout(0.5) → Dense(256, </a:t>
            </a:r>
            <a:r>
              <a:rPr lang="en-SG" dirty="0" err="1"/>
              <a:t>ReLU</a:t>
            </a:r>
            <a:r>
              <a:rPr lang="en-SG" dirty="0"/>
              <a:t>) → Dropout(0.25) → Dense(1, Sigmoid) </a:t>
            </a:r>
          </a:p>
          <a:p>
            <a:pPr>
              <a:spcBef>
                <a:spcPts val="1200"/>
              </a:spcBef>
              <a:spcAft>
                <a:spcPts val="1200"/>
              </a:spcAft>
            </a:pPr>
            <a:r>
              <a:rPr lang="en-SG" dirty="0"/>
              <a:t>• </a:t>
            </a:r>
            <a:r>
              <a:rPr lang="en-SG" dirty="0" err="1"/>
              <a:t>Chỉ</a:t>
            </a:r>
            <a:r>
              <a:rPr lang="en-SG" dirty="0"/>
              <a:t> </a:t>
            </a:r>
            <a:r>
              <a:rPr lang="en-SG" dirty="0" err="1"/>
              <a:t>định</a:t>
            </a:r>
            <a:r>
              <a:rPr lang="en-SG" dirty="0"/>
              <a:t> trainable </a:t>
            </a:r>
            <a:r>
              <a:rPr lang="en-SG" dirty="0" err="1"/>
              <a:t>cho</a:t>
            </a:r>
            <a:r>
              <a:rPr lang="en-SG" dirty="0"/>
              <a:t> 30 layers </a:t>
            </a:r>
            <a:r>
              <a:rPr lang="en-SG" dirty="0" err="1"/>
              <a:t>cuối</a:t>
            </a:r>
            <a:r>
              <a:rPr lang="en-SG" dirty="0"/>
              <a:t> </a:t>
            </a:r>
            <a:r>
              <a:rPr lang="en-SG" dirty="0" err="1"/>
              <a:t>cùng</a:t>
            </a:r>
            <a:r>
              <a:rPr lang="en-SG" dirty="0"/>
              <a:t> </a:t>
            </a:r>
            <a:r>
              <a:rPr lang="en-SG" dirty="0" err="1"/>
              <a:t>của</a:t>
            </a:r>
            <a:r>
              <a:rPr lang="en-SG" dirty="0"/>
              <a:t> ResNet50 </a:t>
            </a:r>
            <a:endParaRPr lang="vi-VN" b="0" i="0" dirty="0">
              <a:solidFill>
                <a:srgbClr val="0F1115"/>
              </a:solidFill>
              <a:effectLst/>
              <a:latin typeface="quote-cjk-patch"/>
            </a:endParaRPr>
          </a:p>
        </p:txBody>
      </p:sp>
      <p:sp>
        <p:nvSpPr>
          <p:cNvPr id="16" name="Title 1">
            <a:extLst>
              <a:ext uri="{FF2B5EF4-FFF2-40B4-BE49-F238E27FC236}">
                <a16:creationId xmlns:a16="http://schemas.microsoft.com/office/drawing/2014/main" id="{784F96CA-1385-C4FF-D8FA-41CBA7E56E9A}"/>
              </a:ext>
            </a:extLst>
          </p:cNvPr>
          <p:cNvSpPr txBox="1">
            <a:spLocks/>
          </p:cNvSpPr>
          <p:nvPr/>
        </p:nvSpPr>
        <p:spPr>
          <a:xfrm>
            <a:off x="498297" y="645826"/>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extLst>
      <p:ext uri="{BB962C8B-B14F-4D97-AF65-F5344CB8AC3E}">
        <p14:creationId xmlns:p14="http://schemas.microsoft.com/office/powerpoint/2010/main" val="3081164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41BF3-4C27-5315-2394-AAA9586EA84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42884E0-0E56-524B-E011-51E62751CFDF}"/>
              </a:ext>
            </a:extLst>
          </p:cNvPr>
          <p:cNvSpPr txBox="1"/>
          <p:nvPr/>
        </p:nvSpPr>
        <p:spPr>
          <a:xfrm>
            <a:off x="498297" y="1966626"/>
            <a:ext cx="8147406" cy="4431983"/>
          </a:xfrm>
          <a:prstGeom prst="rect">
            <a:avLst/>
          </a:prstGeom>
          <a:noFill/>
        </p:spPr>
        <p:txBody>
          <a:bodyPr wrap="square">
            <a:spAutoFit/>
          </a:bodyPr>
          <a:lstStyle/>
          <a:p>
            <a:pPr>
              <a:spcBef>
                <a:spcPts val="1200"/>
              </a:spcBef>
              <a:spcAft>
                <a:spcPts val="1200"/>
              </a:spcAft>
            </a:pPr>
            <a:r>
              <a:rPr lang="vi-VN" dirty="0"/>
              <a:t>Module Huấn luyện (Training): </a:t>
            </a:r>
            <a:endParaRPr lang="en-SG" dirty="0"/>
          </a:p>
          <a:p>
            <a:pPr>
              <a:spcBef>
                <a:spcPts val="1200"/>
              </a:spcBef>
              <a:spcAft>
                <a:spcPts val="1200"/>
              </a:spcAft>
            </a:pPr>
            <a:r>
              <a:rPr lang="vi-VN" dirty="0"/>
              <a:t>• Compile model với Adam optimizer (learning rate=1e-4), binary crossentropy loss </a:t>
            </a:r>
            <a:endParaRPr lang="en-SG" dirty="0"/>
          </a:p>
          <a:p>
            <a:pPr>
              <a:spcBef>
                <a:spcPts val="1200"/>
              </a:spcBef>
              <a:spcAft>
                <a:spcPts val="1200"/>
              </a:spcAft>
            </a:pPr>
            <a:r>
              <a:rPr lang="vi-VN" dirty="0"/>
              <a:t>• Triển khai callbacks: </a:t>
            </a:r>
            <a:endParaRPr lang="en-SG" dirty="0"/>
          </a:p>
          <a:p>
            <a:pPr>
              <a:spcBef>
                <a:spcPts val="1200"/>
              </a:spcBef>
              <a:spcAft>
                <a:spcPts val="1200"/>
              </a:spcAft>
            </a:pPr>
            <a:r>
              <a:rPr lang="en-SG" dirty="0"/>
              <a:t>	</a:t>
            </a:r>
            <a:r>
              <a:rPr lang="vi-VN" dirty="0"/>
              <a:t>– ModelCheckpoint: lưu model có validation accuracy tốt nhất </a:t>
            </a:r>
            <a:endParaRPr lang="en-SG" dirty="0"/>
          </a:p>
          <a:p>
            <a:pPr>
              <a:spcBef>
                <a:spcPts val="1200"/>
              </a:spcBef>
              <a:spcAft>
                <a:spcPts val="1200"/>
              </a:spcAft>
            </a:pPr>
            <a:r>
              <a:rPr lang="en-SG" dirty="0"/>
              <a:t>	</a:t>
            </a:r>
            <a:r>
              <a:rPr lang="vi-VN" dirty="0"/>
              <a:t>– EarlyStopping: dừng huấn luyện nếu val_loss không cải thiện sau 3 </a:t>
            </a:r>
            <a:r>
              <a:rPr lang="en-SG" dirty="0"/>
              <a:t>	</a:t>
            </a:r>
            <a:r>
              <a:rPr lang="vi-VN" dirty="0"/>
              <a:t>epochs </a:t>
            </a:r>
            <a:endParaRPr lang="en-SG" dirty="0"/>
          </a:p>
          <a:p>
            <a:pPr>
              <a:spcBef>
                <a:spcPts val="1200"/>
              </a:spcBef>
              <a:spcAft>
                <a:spcPts val="1200"/>
              </a:spcAft>
            </a:pPr>
            <a:r>
              <a:rPr lang="en-SG" dirty="0"/>
              <a:t>	</a:t>
            </a:r>
            <a:r>
              <a:rPr lang="vi-VN" dirty="0"/>
              <a:t>– ReduceLROnPlateau: giảm learning rate khi val_loss plateau </a:t>
            </a:r>
            <a:endParaRPr lang="en-SG" dirty="0"/>
          </a:p>
          <a:p>
            <a:pPr>
              <a:spcBef>
                <a:spcPts val="1200"/>
              </a:spcBef>
              <a:spcAft>
                <a:spcPts val="1200"/>
              </a:spcAft>
            </a:pPr>
            <a:r>
              <a:rPr lang="vi-VN" dirty="0"/>
              <a:t>• Huấn luyện với 5-10 epochs, sử dụng GPU acceleration</a:t>
            </a:r>
            <a:endParaRPr lang="vi-VN" b="0" i="0" dirty="0">
              <a:solidFill>
                <a:srgbClr val="0F1115"/>
              </a:solidFill>
              <a:effectLst/>
              <a:latin typeface="quote-cjk-patch"/>
            </a:endParaRPr>
          </a:p>
        </p:txBody>
      </p:sp>
      <p:sp>
        <p:nvSpPr>
          <p:cNvPr id="16" name="Title 1">
            <a:extLst>
              <a:ext uri="{FF2B5EF4-FFF2-40B4-BE49-F238E27FC236}">
                <a16:creationId xmlns:a16="http://schemas.microsoft.com/office/drawing/2014/main" id="{0802796D-91DE-E02B-E87D-073482078620}"/>
              </a:ext>
            </a:extLst>
          </p:cNvPr>
          <p:cNvSpPr txBox="1">
            <a:spLocks/>
          </p:cNvSpPr>
          <p:nvPr/>
        </p:nvSpPr>
        <p:spPr>
          <a:xfrm>
            <a:off x="498297" y="459391"/>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extLst>
      <p:ext uri="{BB962C8B-B14F-4D97-AF65-F5344CB8AC3E}">
        <p14:creationId xmlns:p14="http://schemas.microsoft.com/office/powerpoint/2010/main" val="2885631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34742D-15F1-44BF-A95C-5F876B671AC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27FE869-4B19-EFC4-CC18-9F889F63AAEF}"/>
              </a:ext>
            </a:extLst>
          </p:cNvPr>
          <p:cNvSpPr txBox="1"/>
          <p:nvPr/>
        </p:nvSpPr>
        <p:spPr>
          <a:xfrm>
            <a:off x="498297" y="1966626"/>
            <a:ext cx="8147406" cy="4431983"/>
          </a:xfrm>
          <a:prstGeom prst="rect">
            <a:avLst/>
          </a:prstGeom>
          <a:noFill/>
        </p:spPr>
        <p:txBody>
          <a:bodyPr wrap="square">
            <a:spAutoFit/>
          </a:bodyPr>
          <a:lstStyle/>
          <a:p>
            <a:pPr>
              <a:spcBef>
                <a:spcPts val="1200"/>
              </a:spcBef>
              <a:spcAft>
                <a:spcPts val="1200"/>
              </a:spcAft>
            </a:pPr>
            <a:r>
              <a:rPr lang="vi-VN" dirty="0"/>
              <a:t>Module Huấn luyện (Training): </a:t>
            </a:r>
            <a:endParaRPr lang="en-SG" dirty="0"/>
          </a:p>
          <a:p>
            <a:pPr>
              <a:spcBef>
                <a:spcPts val="1200"/>
              </a:spcBef>
              <a:spcAft>
                <a:spcPts val="1200"/>
              </a:spcAft>
            </a:pPr>
            <a:r>
              <a:rPr lang="vi-VN" dirty="0"/>
              <a:t>• Compile model với Adam optimizer (learning rate=1e-4), binary crossentropy loss </a:t>
            </a:r>
            <a:endParaRPr lang="en-SG" dirty="0"/>
          </a:p>
          <a:p>
            <a:pPr>
              <a:spcBef>
                <a:spcPts val="1200"/>
              </a:spcBef>
              <a:spcAft>
                <a:spcPts val="1200"/>
              </a:spcAft>
            </a:pPr>
            <a:r>
              <a:rPr lang="vi-VN" dirty="0"/>
              <a:t>• Triển khai callbacks: </a:t>
            </a:r>
            <a:endParaRPr lang="en-SG" dirty="0"/>
          </a:p>
          <a:p>
            <a:pPr>
              <a:spcBef>
                <a:spcPts val="1200"/>
              </a:spcBef>
              <a:spcAft>
                <a:spcPts val="1200"/>
              </a:spcAft>
            </a:pPr>
            <a:r>
              <a:rPr lang="en-SG" dirty="0"/>
              <a:t>	</a:t>
            </a:r>
            <a:r>
              <a:rPr lang="vi-VN" dirty="0"/>
              <a:t>– ModelCheckpoint: lưu model có validation accuracy tốt nhất </a:t>
            </a:r>
            <a:endParaRPr lang="en-SG" dirty="0"/>
          </a:p>
          <a:p>
            <a:pPr>
              <a:spcBef>
                <a:spcPts val="1200"/>
              </a:spcBef>
              <a:spcAft>
                <a:spcPts val="1200"/>
              </a:spcAft>
            </a:pPr>
            <a:r>
              <a:rPr lang="en-SG" dirty="0"/>
              <a:t>	</a:t>
            </a:r>
            <a:r>
              <a:rPr lang="vi-VN" dirty="0"/>
              <a:t>– EarlyStopping: dừng huấn luyện nếu val_loss không cải thiện sau 3 </a:t>
            </a:r>
            <a:r>
              <a:rPr lang="en-SG" dirty="0"/>
              <a:t>	</a:t>
            </a:r>
            <a:r>
              <a:rPr lang="vi-VN" dirty="0"/>
              <a:t>epochs </a:t>
            </a:r>
            <a:endParaRPr lang="en-SG" dirty="0"/>
          </a:p>
          <a:p>
            <a:pPr>
              <a:spcBef>
                <a:spcPts val="1200"/>
              </a:spcBef>
              <a:spcAft>
                <a:spcPts val="1200"/>
              </a:spcAft>
            </a:pPr>
            <a:r>
              <a:rPr lang="en-SG" dirty="0"/>
              <a:t>	</a:t>
            </a:r>
            <a:r>
              <a:rPr lang="vi-VN" dirty="0"/>
              <a:t>– ReduceLROnPlateau: giảm learning rate khi val_loss plateau </a:t>
            </a:r>
            <a:endParaRPr lang="en-SG" dirty="0"/>
          </a:p>
          <a:p>
            <a:pPr>
              <a:spcBef>
                <a:spcPts val="1200"/>
              </a:spcBef>
              <a:spcAft>
                <a:spcPts val="1200"/>
              </a:spcAft>
            </a:pPr>
            <a:r>
              <a:rPr lang="vi-VN" dirty="0"/>
              <a:t>• Huấn luyện với 5-10 epochs, sử dụng GPU acceleration</a:t>
            </a:r>
            <a:endParaRPr lang="vi-VN" b="0" i="0" dirty="0">
              <a:solidFill>
                <a:srgbClr val="0F1115"/>
              </a:solidFill>
              <a:effectLst/>
              <a:latin typeface="quote-cjk-patch"/>
            </a:endParaRPr>
          </a:p>
        </p:txBody>
      </p:sp>
      <p:sp>
        <p:nvSpPr>
          <p:cNvPr id="16" name="Title 1">
            <a:extLst>
              <a:ext uri="{FF2B5EF4-FFF2-40B4-BE49-F238E27FC236}">
                <a16:creationId xmlns:a16="http://schemas.microsoft.com/office/drawing/2014/main" id="{4CDB76A5-F84B-2310-35F4-1E41044F2C66}"/>
              </a:ext>
            </a:extLst>
          </p:cNvPr>
          <p:cNvSpPr txBox="1">
            <a:spLocks/>
          </p:cNvSpPr>
          <p:nvPr/>
        </p:nvSpPr>
        <p:spPr>
          <a:xfrm>
            <a:off x="498297" y="459391"/>
            <a:ext cx="5409915"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dirty="0"/>
              <a:t>II.Phương pháp nghiên cứu &amp; triển khai</a:t>
            </a:r>
          </a:p>
        </p:txBody>
      </p:sp>
    </p:spTree>
    <p:extLst>
      <p:ext uri="{BB962C8B-B14F-4D97-AF65-F5344CB8AC3E}">
        <p14:creationId xmlns:p14="http://schemas.microsoft.com/office/powerpoint/2010/main" val="858289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lang="en-SG" dirty="0"/>
              <a:t>III. </a:t>
            </a:r>
            <a:r>
              <a:rPr dirty="0" err="1"/>
              <a:t>Kết</a:t>
            </a:r>
            <a:r>
              <a:rPr dirty="0"/>
              <a:t> </a:t>
            </a:r>
            <a:r>
              <a:rPr dirty="0" err="1"/>
              <a:t>quả</a:t>
            </a:r>
            <a:r>
              <a:rPr dirty="0"/>
              <a:t> </a:t>
            </a:r>
            <a:r>
              <a:rPr lang="en-SG" dirty="0" err="1"/>
              <a:t>thu</a:t>
            </a:r>
            <a:r>
              <a:rPr lang="en-SG" dirty="0"/>
              <a:t> </a:t>
            </a:r>
            <a:r>
              <a:rPr lang="en-SG" dirty="0" err="1"/>
              <a:t>được</a:t>
            </a:r>
            <a:endParaRPr dirty="0"/>
          </a:p>
        </p:txBody>
      </p:sp>
      <p:graphicFrame>
        <p:nvGraphicFramePr>
          <p:cNvPr id="6" name="Content Placeholder 5">
            <a:extLst>
              <a:ext uri="{FF2B5EF4-FFF2-40B4-BE49-F238E27FC236}">
                <a16:creationId xmlns:a16="http://schemas.microsoft.com/office/drawing/2014/main" id="{725ACEE6-321D-A98E-366D-690EE04E7F7D}"/>
              </a:ext>
            </a:extLst>
          </p:cNvPr>
          <p:cNvGraphicFramePr>
            <a:graphicFrameLocks noGrp="1"/>
          </p:cNvGraphicFramePr>
          <p:nvPr>
            <p:ph idx="1"/>
            <p:extLst>
              <p:ext uri="{D42A27DB-BD31-4B8C-83A1-F6EECF244321}">
                <p14:modId xmlns:p14="http://schemas.microsoft.com/office/powerpoint/2010/main" val="3242450619"/>
              </p:ext>
            </p:extLst>
          </p:nvPr>
        </p:nvGraphicFramePr>
        <p:xfrm>
          <a:off x="609600" y="2250611"/>
          <a:ext cx="6348415" cy="2686624"/>
        </p:xfrm>
        <a:graphic>
          <a:graphicData uri="http://schemas.openxmlformats.org/drawingml/2006/table">
            <a:tbl>
              <a:tblPr>
                <a:tableStyleId>{793D81CF-94F2-401A-BA57-92F5A7B2D0C5}</a:tableStyleId>
              </a:tblPr>
              <a:tblGrid>
                <a:gridCol w="1120551">
                  <a:extLst>
                    <a:ext uri="{9D8B030D-6E8A-4147-A177-3AD203B41FA5}">
                      <a16:colId xmlns:a16="http://schemas.microsoft.com/office/drawing/2014/main" val="1627336297"/>
                    </a:ext>
                  </a:extLst>
                </a:gridCol>
                <a:gridCol w="1306966">
                  <a:extLst>
                    <a:ext uri="{9D8B030D-6E8A-4147-A177-3AD203B41FA5}">
                      <a16:colId xmlns:a16="http://schemas.microsoft.com/office/drawing/2014/main" val="277732743"/>
                    </a:ext>
                  </a:extLst>
                </a:gridCol>
                <a:gridCol w="1306966">
                  <a:extLst>
                    <a:ext uri="{9D8B030D-6E8A-4147-A177-3AD203B41FA5}">
                      <a16:colId xmlns:a16="http://schemas.microsoft.com/office/drawing/2014/main" val="744219371"/>
                    </a:ext>
                  </a:extLst>
                </a:gridCol>
                <a:gridCol w="1306966">
                  <a:extLst>
                    <a:ext uri="{9D8B030D-6E8A-4147-A177-3AD203B41FA5}">
                      <a16:colId xmlns:a16="http://schemas.microsoft.com/office/drawing/2014/main" val="3642418030"/>
                    </a:ext>
                  </a:extLst>
                </a:gridCol>
                <a:gridCol w="1306966">
                  <a:extLst>
                    <a:ext uri="{9D8B030D-6E8A-4147-A177-3AD203B41FA5}">
                      <a16:colId xmlns:a16="http://schemas.microsoft.com/office/drawing/2014/main" val="1563257504"/>
                    </a:ext>
                  </a:extLst>
                </a:gridCol>
              </a:tblGrid>
              <a:tr h="648854">
                <a:tc>
                  <a:txBody>
                    <a:bodyPr/>
                    <a:lstStyle/>
                    <a:p>
                      <a:pPr algn="l">
                        <a:lnSpc>
                          <a:spcPts val="1875"/>
                        </a:lnSpc>
                        <a:buNone/>
                      </a:pPr>
                      <a:r>
                        <a:rPr lang="en-SG" sz="1800" b="0">
                          <a:effectLst/>
                        </a:rPr>
                        <a:t>Epoch</a:t>
                      </a:r>
                      <a:endParaRPr lang="en-SG" sz="1800" b="0">
                        <a:effectLst/>
                        <a:latin typeface="quote-cjk-patch"/>
                      </a:endParaRPr>
                    </a:p>
                  </a:txBody>
                  <a:tcPr marR="133004" marT="83127" marB="83127" anchor="ctr"/>
                </a:tc>
                <a:tc>
                  <a:txBody>
                    <a:bodyPr/>
                    <a:lstStyle/>
                    <a:p>
                      <a:pPr algn="l">
                        <a:lnSpc>
                          <a:spcPts val="1875"/>
                        </a:lnSpc>
                        <a:buNone/>
                      </a:pPr>
                      <a:r>
                        <a:rPr lang="en-SG" sz="1800" b="0">
                          <a:effectLst/>
                        </a:rPr>
                        <a:t>Train Loss</a:t>
                      </a:r>
                      <a:endParaRPr lang="en-SG" sz="1800" b="0">
                        <a:effectLst/>
                        <a:latin typeface="quote-cjk-patch"/>
                      </a:endParaRPr>
                    </a:p>
                  </a:txBody>
                  <a:tcPr marL="133004" marR="133004" marT="83127" marB="83127" anchor="ctr"/>
                </a:tc>
                <a:tc>
                  <a:txBody>
                    <a:bodyPr/>
                    <a:lstStyle/>
                    <a:p>
                      <a:pPr algn="l">
                        <a:lnSpc>
                          <a:spcPts val="1875"/>
                        </a:lnSpc>
                        <a:buNone/>
                      </a:pPr>
                      <a:r>
                        <a:rPr lang="en-SG" sz="1800" b="0" dirty="0">
                          <a:effectLst/>
                        </a:rPr>
                        <a:t>Train </a:t>
                      </a:r>
                      <a:r>
                        <a:rPr lang="en-SG" sz="1800" b="0" dirty="0" err="1">
                          <a:effectLst/>
                        </a:rPr>
                        <a:t>Acc</a:t>
                      </a:r>
                      <a:r>
                        <a:rPr lang="en-SG" sz="1800" b="0" dirty="0">
                          <a:effectLst/>
                        </a:rPr>
                        <a:t> (%)</a:t>
                      </a:r>
                      <a:endParaRPr lang="en-SG" sz="1800" b="0" dirty="0">
                        <a:effectLst/>
                        <a:latin typeface="quote-cjk-patch"/>
                      </a:endParaRPr>
                    </a:p>
                  </a:txBody>
                  <a:tcPr marL="133004" marR="133004" marT="83127" marB="83127" anchor="ctr"/>
                </a:tc>
                <a:tc>
                  <a:txBody>
                    <a:bodyPr/>
                    <a:lstStyle/>
                    <a:p>
                      <a:pPr algn="l">
                        <a:lnSpc>
                          <a:spcPts val="1875"/>
                        </a:lnSpc>
                        <a:buNone/>
                      </a:pPr>
                      <a:r>
                        <a:rPr lang="en-SG" sz="1800" b="0">
                          <a:effectLst/>
                        </a:rPr>
                        <a:t>Val Loss</a:t>
                      </a:r>
                      <a:endParaRPr lang="en-SG" sz="1800" b="0">
                        <a:effectLst/>
                        <a:latin typeface="quote-cjk-patch"/>
                      </a:endParaRPr>
                    </a:p>
                  </a:txBody>
                  <a:tcPr marL="133004" marR="133004" marT="83127" marB="83127" anchor="ctr"/>
                </a:tc>
                <a:tc>
                  <a:txBody>
                    <a:bodyPr/>
                    <a:lstStyle/>
                    <a:p>
                      <a:pPr algn="l">
                        <a:lnSpc>
                          <a:spcPts val="1875"/>
                        </a:lnSpc>
                        <a:buNone/>
                      </a:pPr>
                      <a:r>
                        <a:rPr lang="en-SG" sz="1800" b="0">
                          <a:effectLst/>
                        </a:rPr>
                        <a:t>Val Acc (%)</a:t>
                      </a:r>
                      <a:endParaRPr lang="en-SG" sz="1800" b="0">
                        <a:effectLst/>
                        <a:latin typeface="quote-cjk-patch"/>
                      </a:endParaRPr>
                    </a:p>
                  </a:txBody>
                  <a:tcPr marL="133004" marR="133004" marT="83127" marB="83127" anchor="ctr"/>
                </a:tc>
                <a:extLst>
                  <a:ext uri="{0D108BD9-81ED-4DB2-BD59-A6C34878D82A}">
                    <a16:rowId xmlns:a16="http://schemas.microsoft.com/office/drawing/2014/main" val="2973607402"/>
                  </a:ext>
                </a:extLst>
              </a:tr>
              <a:tr h="407554">
                <a:tc>
                  <a:txBody>
                    <a:bodyPr/>
                    <a:lstStyle/>
                    <a:p>
                      <a:pPr>
                        <a:lnSpc>
                          <a:spcPts val="1875"/>
                        </a:lnSpc>
                        <a:buNone/>
                      </a:pPr>
                      <a:r>
                        <a:rPr lang="en-SG" sz="1800" b="0">
                          <a:effectLst/>
                        </a:rPr>
                        <a:t>1</a:t>
                      </a:r>
                      <a:endParaRPr lang="en-SG" sz="1800" b="0">
                        <a:effectLst/>
                        <a:latin typeface="quote-cjk-patch"/>
                      </a:endParaRPr>
                    </a:p>
                  </a:txBody>
                  <a:tcPr marR="133004" marT="83127" marB="83127" anchor="ctr"/>
                </a:tc>
                <a:tc>
                  <a:txBody>
                    <a:bodyPr/>
                    <a:lstStyle/>
                    <a:p>
                      <a:pPr>
                        <a:lnSpc>
                          <a:spcPts val="1875"/>
                        </a:lnSpc>
                        <a:buNone/>
                      </a:pPr>
                      <a:r>
                        <a:rPr lang="en-SG" sz="1800" b="0">
                          <a:effectLst/>
                        </a:rPr>
                        <a:t>0.2156</a:t>
                      </a:r>
                      <a:endParaRPr lang="en-SG" sz="1800" b="0">
                        <a:effectLst/>
                        <a:latin typeface="quote-cjk-patch"/>
                      </a:endParaRPr>
                    </a:p>
                  </a:txBody>
                  <a:tcPr marL="133004" marR="133004" marT="83127" marB="83127" anchor="ctr"/>
                </a:tc>
                <a:tc>
                  <a:txBody>
                    <a:bodyPr/>
                    <a:lstStyle/>
                    <a:p>
                      <a:pPr>
                        <a:lnSpc>
                          <a:spcPts val="1875"/>
                        </a:lnSpc>
                        <a:buNone/>
                      </a:pPr>
                      <a:r>
                        <a:rPr lang="en-SG" sz="1800" b="0" dirty="0">
                          <a:effectLst/>
                        </a:rPr>
                        <a:t>92.14%</a:t>
                      </a:r>
                      <a:endParaRPr lang="en-SG" sz="1800" b="0" dirty="0">
                        <a:effectLst/>
                        <a:latin typeface="quote-cjk-patch"/>
                      </a:endParaRPr>
                    </a:p>
                  </a:txBody>
                  <a:tcPr marL="133004" marR="133004" marT="83127" marB="83127" anchor="ctr"/>
                </a:tc>
                <a:tc>
                  <a:txBody>
                    <a:bodyPr/>
                    <a:lstStyle/>
                    <a:p>
                      <a:pPr>
                        <a:lnSpc>
                          <a:spcPts val="1875"/>
                        </a:lnSpc>
                        <a:buNone/>
                      </a:pPr>
                      <a:r>
                        <a:rPr lang="en-SG" sz="1800" b="0">
                          <a:effectLst/>
                        </a:rPr>
                        <a:t>0.1023</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96.85%</a:t>
                      </a:r>
                      <a:endParaRPr lang="en-SG" sz="1800" b="0">
                        <a:effectLst/>
                        <a:latin typeface="quote-cjk-patch"/>
                      </a:endParaRPr>
                    </a:p>
                  </a:txBody>
                  <a:tcPr marL="133004" marT="83127" marB="83127" anchor="ctr"/>
                </a:tc>
                <a:extLst>
                  <a:ext uri="{0D108BD9-81ED-4DB2-BD59-A6C34878D82A}">
                    <a16:rowId xmlns:a16="http://schemas.microsoft.com/office/drawing/2014/main" val="3149538595"/>
                  </a:ext>
                </a:extLst>
              </a:tr>
              <a:tr h="407554">
                <a:tc>
                  <a:txBody>
                    <a:bodyPr/>
                    <a:lstStyle/>
                    <a:p>
                      <a:pPr>
                        <a:lnSpc>
                          <a:spcPts val="1875"/>
                        </a:lnSpc>
                        <a:buNone/>
                      </a:pPr>
                      <a:r>
                        <a:rPr lang="en-SG" sz="1800" b="0">
                          <a:effectLst/>
                        </a:rPr>
                        <a:t>2</a:t>
                      </a:r>
                      <a:endParaRPr lang="en-SG" sz="1800" b="0">
                        <a:effectLst/>
                        <a:latin typeface="quote-cjk-patch"/>
                      </a:endParaRPr>
                    </a:p>
                  </a:txBody>
                  <a:tcPr marR="133004" marT="83127" marB="83127" anchor="ctr"/>
                </a:tc>
                <a:tc>
                  <a:txBody>
                    <a:bodyPr/>
                    <a:lstStyle/>
                    <a:p>
                      <a:pPr>
                        <a:lnSpc>
                          <a:spcPts val="1875"/>
                        </a:lnSpc>
                        <a:buNone/>
                      </a:pPr>
                      <a:r>
                        <a:rPr lang="en-SG" sz="1800" b="0">
                          <a:effectLst/>
                        </a:rPr>
                        <a:t>0.0987</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96.89%</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0.0789</a:t>
                      </a:r>
                      <a:endParaRPr lang="en-SG" sz="1800" b="0">
                        <a:effectLst/>
                        <a:latin typeface="quote-cjk-patch"/>
                      </a:endParaRPr>
                    </a:p>
                  </a:txBody>
                  <a:tcPr marL="133004" marR="133004" marT="83127" marB="83127" anchor="ctr"/>
                </a:tc>
                <a:tc>
                  <a:txBody>
                    <a:bodyPr/>
                    <a:lstStyle/>
                    <a:p>
                      <a:pPr>
                        <a:lnSpc>
                          <a:spcPts val="1875"/>
                        </a:lnSpc>
                        <a:buNone/>
                      </a:pPr>
                      <a:r>
                        <a:rPr lang="en-SG" sz="1800" b="1">
                          <a:effectLst/>
                        </a:rPr>
                        <a:t>97.90%</a:t>
                      </a:r>
                      <a:endParaRPr lang="en-SG" sz="1800" b="0">
                        <a:effectLst/>
                        <a:latin typeface="quote-cjk-patch"/>
                      </a:endParaRPr>
                    </a:p>
                  </a:txBody>
                  <a:tcPr marL="133004" marT="83127" marB="83127" anchor="ctr"/>
                </a:tc>
                <a:extLst>
                  <a:ext uri="{0D108BD9-81ED-4DB2-BD59-A6C34878D82A}">
                    <a16:rowId xmlns:a16="http://schemas.microsoft.com/office/drawing/2014/main" val="20884580"/>
                  </a:ext>
                </a:extLst>
              </a:tr>
              <a:tr h="407554">
                <a:tc>
                  <a:txBody>
                    <a:bodyPr/>
                    <a:lstStyle/>
                    <a:p>
                      <a:pPr>
                        <a:lnSpc>
                          <a:spcPts val="1875"/>
                        </a:lnSpc>
                        <a:buNone/>
                      </a:pPr>
                      <a:r>
                        <a:rPr lang="en-SG" sz="1800" b="0">
                          <a:effectLst/>
                        </a:rPr>
                        <a:t>3</a:t>
                      </a:r>
                      <a:endParaRPr lang="en-SG" sz="1800" b="0">
                        <a:effectLst/>
                        <a:latin typeface="quote-cjk-patch"/>
                      </a:endParaRPr>
                    </a:p>
                  </a:txBody>
                  <a:tcPr marR="133004" marT="83127" marB="83127" anchor="ctr"/>
                </a:tc>
                <a:tc>
                  <a:txBody>
                    <a:bodyPr/>
                    <a:lstStyle/>
                    <a:p>
                      <a:pPr>
                        <a:lnSpc>
                          <a:spcPts val="1875"/>
                        </a:lnSpc>
                        <a:buNone/>
                      </a:pPr>
                      <a:r>
                        <a:rPr lang="en-SG" sz="1800" b="0">
                          <a:effectLst/>
                        </a:rPr>
                        <a:t>0.0523</a:t>
                      </a:r>
                      <a:endParaRPr lang="en-SG" sz="1800" b="0">
                        <a:effectLst/>
                        <a:latin typeface="quote-cjk-patch"/>
                      </a:endParaRPr>
                    </a:p>
                  </a:txBody>
                  <a:tcPr marL="133004" marR="133004" marT="83127" marB="83127" anchor="ctr"/>
                </a:tc>
                <a:tc>
                  <a:txBody>
                    <a:bodyPr/>
                    <a:lstStyle/>
                    <a:p>
                      <a:pPr>
                        <a:lnSpc>
                          <a:spcPts val="1875"/>
                        </a:lnSpc>
                        <a:buNone/>
                      </a:pPr>
                      <a:r>
                        <a:rPr lang="en-SG" sz="1800" b="0" dirty="0">
                          <a:effectLst/>
                        </a:rPr>
                        <a:t>98.45%</a:t>
                      </a:r>
                      <a:endParaRPr lang="en-SG" sz="1800" b="0" dirty="0">
                        <a:effectLst/>
                        <a:latin typeface="quote-cjk-patch"/>
                      </a:endParaRPr>
                    </a:p>
                  </a:txBody>
                  <a:tcPr marL="133004" marR="133004" marT="83127" marB="83127" anchor="ctr"/>
                </a:tc>
                <a:tc>
                  <a:txBody>
                    <a:bodyPr/>
                    <a:lstStyle/>
                    <a:p>
                      <a:pPr>
                        <a:lnSpc>
                          <a:spcPts val="1875"/>
                        </a:lnSpc>
                        <a:buNone/>
                      </a:pPr>
                      <a:r>
                        <a:rPr lang="en-SG" sz="1800" b="0" dirty="0">
                          <a:effectLst/>
                        </a:rPr>
                        <a:t>0.0856</a:t>
                      </a:r>
                      <a:endParaRPr lang="en-SG" sz="1800" b="0" dirty="0">
                        <a:effectLst/>
                        <a:latin typeface="quote-cjk-patch"/>
                      </a:endParaRPr>
                    </a:p>
                  </a:txBody>
                  <a:tcPr marL="133004" marR="133004" marT="83127" marB="83127" anchor="ctr"/>
                </a:tc>
                <a:tc>
                  <a:txBody>
                    <a:bodyPr/>
                    <a:lstStyle/>
                    <a:p>
                      <a:pPr>
                        <a:lnSpc>
                          <a:spcPts val="1875"/>
                        </a:lnSpc>
                        <a:buNone/>
                      </a:pPr>
                      <a:r>
                        <a:rPr lang="en-SG" sz="1800" b="0">
                          <a:effectLst/>
                        </a:rPr>
                        <a:t>97.45%</a:t>
                      </a:r>
                      <a:endParaRPr lang="en-SG" sz="1800" b="0">
                        <a:effectLst/>
                        <a:latin typeface="quote-cjk-patch"/>
                      </a:endParaRPr>
                    </a:p>
                  </a:txBody>
                  <a:tcPr marL="133004" marT="83127" marB="83127" anchor="ctr"/>
                </a:tc>
                <a:extLst>
                  <a:ext uri="{0D108BD9-81ED-4DB2-BD59-A6C34878D82A}">
                    <a16:rowId xmlns:a16="http://schemas.microsoft.com/office/drawing/2014/main" val="4273488443"/>
                  </a:ext>
                </a:extLst>
              </a:tr>
              <a:tr h="407554">
                <a:tc>
                  <a:txBody>
                    <a:bodyPr/>
                    <a:lstStyle/>
                    <a:p>
                      <a:pPr>
                        <a:lnSpc>
                          <a:spcPts val="1875"/>
                        </a:lnSpc>
                        <a:buNone/>
                      </a:pPr>
                      <a:r>
                        <a:rPr lang="en-SG" sz="1800" b="0">
                          <a:effectLst/>
                        </a:rPr>
                        <a:t>4</a:t>
                      </a:r>
                      <a:endParaRPr lang="en-SG" sz="1800" b="0">
                        <a:effectLst/>
                        <a:latin typeface="quote-cjk-patch"/>
                      </a:endParaRPr>
                    </a:p>
                  </a:txBody>
                  <a:tcPr marR="133004" marT="83127" marB="83127" anchor="ctr"/>
                </a:tc>
                <a:tc>
                  <a:txBody>
                    <a:bodyPr/>
                    <a:lstStyle/>
                    <a:p>
                      <a:pPr>
                        <a:lnSpc>
                          <a:spcPts val="1875"/>
                        </a:lnSpc>
                        <a:buNone/>
                      </a:pPr>
                      <a:r>
                        <a:rPr lang="en-SG" sz="1800" b="0">
                          <a:effectLst/>
                        </a:rPr>
                        <a:t>0.0234</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99.52%</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0.0912</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97.20%</a:t>
                      </a:r>
                      <a:endParaRPr lang="en-SG" sz="1800" b="0">
                        <a:effectLst/>
                        <a:latin typeface="quote-cjk-patch"/>
                      </a:endParaRPr>
                    </a:p>
                  </a:txBody>
                  <a:tcPr marL="133004" marT="83127" marB="83127" anchor="ctr"/>
                </a:tc>
                <a:extLst>
                  <a:ext uri="{0D108BD9-81ED-4DB2-BD59-A6C34878D82A}">
                    <a16:rowId xmlns:a16="http://schemas.microsoft.com/office/drawing/2014/main" val="825789368"/>
                  </a:ext>
                </a:extLst>
              </a:tr>
              <a:tr h="407554">
                <a:tc>
                  <a:txBody>
                    <a:bodyPr/>
                    <a:lstStyle/>
                    <a:p>
                      <a:pPr>
                        <a:lnSpc>
                          <a:spcPts val="1875"/>
                        </a:lnSpc>
                        <a:buNone/>
                      </a:pPr>
                      <a:r>
                        <a:rPr lang="en-SG" sz="1800" b="0">
                          <a:effectLst/>
                        </a:rPr>
                        <a:t>5</a:t>
                      </a:r>
                      <a:endParaRPr lang="en-SG" sz="1800" b="0">
                        <a:effectLst/>
                        <a:latin typeface="quote-cjk-patch"/>
                      </a:endParaRPr>
                    </a:p>
                  </a:txBody>
                  <a:tcPr marR="133004" marT="83127" marB="83127" anchor="ctr"/>
                </a:tc>
                <a:tc>
                  <a:txBody>
                    <a:bodyPr/>
                    <a:lstStyle/>
                    <a:p>
                      <a:pPr>
                        <a:lnSpc>
                          <a:spcPts val="1875"/>
                        </a:lnSpc>
                        <a:buNone/>
                      </a:pPr>
                      <a:r>
                        <a:rPr lang="en-SG" sz="1800" b="0">
                          <a:effectLst/>
                        </a:rPr>
                        <a:t>0.0089</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99.89%</a:t>
                      </a:r>
                      <a:endParaRPr lang="en-SG" sz="1800" b="0">
                        <a:effectLst/>
                        <a:latin typeface="quote-cjk-patch"/>
                      </a:endParaRPr>
                    </a:p>
                  </a:txBody>
                  <a:tcPr marL="133004" marR="133004" marT="83127" marB="83127" anchor="ctr"/>
                </a:tc>
                <a:tc>
                  <a:txBody>
                    <a:bodyPr/>
                    <a:lstStyle/>
                    <a:p>
                      <a:pPr>
                        <a:lnSpc>
                          <a:spcPts val="1875"/>
                        </a:lnSpc>
                        <a:buNone/>
                      </a:pPr>
                      <a:r>
                        <a:rPr lang="en-SG" sz="1800" b="0">
                          <a:effectLst/>
                        </a:rPr>
                        <a:t>0.0956</a:t>
                      </a:r>
                      <a:endParaRPr lang="en-SG" sz="1800" b="0">
                        <a:effectLst/>
                        <a:latin typeface="quote-cjk-patch"/>
                      </a:endParaRPr>
                    </a:p>
                  </a:txBody>
                  <a:tcPr marL="133004" marR="133004" marT="83127" marB="83127" anchor="ctr"/>
                </a:tc>
                <a:tc>
                  <a:txBody>
                    <a:bodyPr/>
                    <a:lstStyle/>
                    <a:p>
                      <a:pPr>
                        <a:lnSpc>
                          <a:spcPts val="1875"/>
                        </a:lnSpc>
                        <a:buNone/>
                      </a:pPr>
                      <a:r>
                        <a:rPr lang="en-SG" sz="1800" b="0" dirty="0">
                          <a:effectLst/>
                        </a:rPr>
                        <a:t>97.10%</a:t>
                      </a:r>
                      <a:endParaRPr lang="en-SG" sz="1800" b="0" dirty="0">
                        <a:effectLst/>
                        <a:latin typeface="quote-cjk-patch"/>
                      </a:endParaRPr>
                    </a:p>
                  </a:txBody>
                  <a:tcPr marL="133004" marT="83127" marB="83127" anchor="ctr"/>
                </a:tc>
                <a:extLst>
                  <a:ext uri="{0D108BD9-81ED-4DB2-BD59-A6C34878D82A}">
                    <a16:rowId xmlns:a16="http://schemas.microsoft.com/office/drawing/2014/main" val="1133459969"/>
                  </a:ext>
                </a:extLst>
              </a:tr>
            </a:tbl>
          </a:graphicData>
        </a:graphic>
      </p:graphicFrame>
      <p:sp>
        <p:nvSpPr>
          <p:cNvPr id="7" name="Rectangle 1">
            <a:extLst>
              <a:ext uri="{FF2B5EF4-FFF2-40B4-BE49-F238E27FC236}">
                <a16:creationId xmlns:a16="http://schemas.microsoft.com/office/drawing/2014/main" id="{8C5854D9-5861-2E67-850D-4A31A9658A12}"/>
              </a:ext>
            </a:extLst>
          </p:cNvPr>
          <p:cNvSpPr>
            <a:spLocks noChangeArrowheads="1"/>
          </p:cNvSpPr>
          <p:nvPr/>
        </p:nvSpPr>
        <p:spPr bwMode="auto">
          <a:xfrm>
            <a:off x="610301" y="1712336"/>
            <a:ext cx="39624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err="1">
                <a:ln>
                  <a:noFill/>
                </a:ln>
                <a:solidFill>
                  <a:srgbClr val="0F1115"/>
                </a:solidFill>
                <a:effectLst/>
                <a:latin typeface="+mn-lt"/>
              </a:rPr>
              <a:t>Kết</a:t>
            </a:r>
            <a:r>
              <a:rPr kumimoji="0" lang="en-US" altLang="en-US" i="0" u="none" strike="noStrike" cap="none" normalizeH="0" baseline="0" dirty="0">
                <a:ln>
                  <a:noFill/>
                </a:ln>
                <a:solidFill>
                  <a:srgbClr val="0F1115"/>
                </a:solidFill>
                <a:effectLst/>
                <a:latin typeface="+mn-lt"/>
              </a:rPr>
              <a:t> </a:t>
            </a:r>
            <a:r>
              <a:rPr kumimoji="0" lang="en-US" altLang="en-US" i="0" u="none" strike="noStrike" cap="none" normalizeH="0" baseline="0" dirty="0" err="1">
                <a:ln>
                  <a:noFill/>
                </a:ln>
                <a:solidFill>
                  <a:srgbClr val="0F1115"/>
                </a:solidFill>
                <a:effectLst/>
                <a:latin typeface="+mn-lt"/>
              </a:rPr>
              <a:t>quả</a:t>
            </a:r>
            <a:r>
              <a:rPr kumimoji="0" lang="en-US" altLang="en-US" i="0" u="none" strike="noStrike" cap="none" normalizeH="0" baseline="0" dirty="0">
                <a:ln>
                  <a:noFill/>
                </a:ln>
                <a:solidFill>
                  <a:srgbClr val="0F1115"/>
                </a:solidFill>
                <a:effectLst/>
                <a:latin typeface="+mn-lt"/>
              </a:rPr>
              <a:t> </a:t>
            </a:r>
            <a:r>
              <a:rPr kumimoji="0" lang="en-US" altLang="en-US" i="0" u="none" strike="noStrike" cap="none" normalizeH="0" baseline="0" dirty="0" err="1">
                <a:ln>
                  <a:noFill/>
                </a:ln>
                <a:solidFill>
                  <a:srgbClr val="0F1115"/>
                </a:solidFill>
                <a:effectLst/>
                <a:latin typeface="+mn-lt"/>
              </a:rPr>
              <a:t>huấn</a:t>
            </a:r>
            <a:r>
              <a:rPr kumimoji="0" lang="en-US" altLang="en-US" i="0" u="none" strike="noStrike" cap="none" normalizeH="0" baseline="0" dirty="0">
                <a:ln>
                  <a:noFill/>
                </a:ln>
                <a:solidFill>
                  <a:srgbClr val="0F1115"/>
                </a:solidFill>
                <a:effectLst/>
                <a:latin typeface="+mn-lt"/>
              </a:rPr>
              <a:t> </a:t>
            </a:r>
            <a:r>
              <a:rPr kumimoji="0" lang="en-US" altLang="en-US" i="0" u="none" strike="noStrike" cap="none" normalizeH="0" baseline="0" dirty="0" err="1">
                <a:ln>
                  <a:noFill/>
                </a:ln>
                <a:solidFill>
                  <a:srgbClr val="0F1115"/>
                </a:solidFill>
                <a:effectLst/>
                <a:latin typeface="+mn-lt"/>
              </a:rPr>
              <a:t>luyện</a:t>
            </a:r>
            <a:r>
              <a:rPr kumimoji="0" lang="en-US" altLang="en-US" i="0" u="none" strike="noStrike" cap="none" normalizeH="0" baseline="0" dirty="0">
                <a:ln>
                  <a:noFill/>
                </a:ln>
                <a:solidFill>
                  <a:srgbClr val="0F1115"/>
                </a:solidFill>
                <a:effectLst/>
                <a:latin typeface="+mn-lt"/>
              </a:rPr>
              <a:t> qua 5 epochs:</a:t>
            </a:r>
            <a:endParaRPr kumimoji="0" lang="en-US" altLang="en-US" sz="900" i="0" u="none" strike="noStrike" cap="none" normalizeH="0" baseline="0" dirty="0">
              <a:ln>
                <a:noFill/>
              </a:ln>
              <a:solidFill>
                <a:schemeClr val="tx1"/>
              </a:solidFill>
              <a:effectLst/>
              <a:latin typeface="+mn-lt"/>
            </a:endParaRPr>
          </a:p>
        </p:txBody>
      </p:sp>
      <p:sp>
        <p:nvSpPr>
          <p:cNvPr id="10" name="Content Placeholder 3">
            <a:extLst>
              <a:ext uri="{FF2B5EF4-FFF2-40B4-BE49-F238E27FC236}">
                <a16:creationId xmlns:a16="http://schemas.microsoft.com/office/drawing/2014/main" id="{D72303A5-7950-6B47-AD76-ED51DE13F882}"/>
              </a:ext>
            </a:extLst>
          </p:cNvPr>
          <p:cNvSpPr txBox="1">
            <a:spLocks/>
          </p:cNvSpPr>
          <p:nvPr/>
        </p:nvSpPr>
        <p:spPr>
          <a:xfrm>
            <a:off x="610301" y="4939287"/>
            <a:ext cx="6347714" cy="23394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SG" sz="1600" b="1" dirty="0" err="1"/>
              <a:t>Nhận</a:t>
            </a:r>
            <a:r>
              <a:rPr lang="en-SG" sz="1600" b="1" dirty="0"/>
              <a:t> </a:t>
            </a:r>
            <a:r>
              <a:rPr lang="en-SG" sz="1600" b="1" dirty="0" err="1"/>
              <a:t>xét</a:t>
            </a:r>
            <a:r>
              <a:rPr lang="en-SG" sz="1600" b="1" dirty="0"/>
              <a:t>:</a:t>
            </a:r>
            <a:endParaRPr lang="en-SG" sz="1600" dirty="0"/>
          </a:p>
          <a:p>
            <a:r>
              <a:rPr lang="en-SG" sz="1600" dirty="0" err="1"/>
              <a:t>Độ</a:t>
            </a:r>
            <a:r>
              <a:rPr lang="en-SG" sz="1600" dirty="0"/>
              <a:t> </a:t>
            </a:r>
            <a:r>
              <a:rPr lang="en-SG" sz="1600" dirty="0" err="1"/>
              <a:t>chính</a:t>
            </a:r>
            <a:r>
              <a:rPr lang="en-SG" sz="1600" dirty="0"/>
              <a:t> </a:t>
            </a:r>
            <a:r>
              <a:rPr lang="en-SG" sz="1600" dirty="0" err="1"/>
              <a:t>xác</a:t>
            </a:r>
            <a:r>
              <a:rPr lang="en-SG" sz="1600" dirty="0"/>
              <a:t> </a:t>
            </a:r>
            <a:r>
              <a:rPr lang="en-SG" sz="1600" dirty="0" err="1"/>
              <a:t>trên</a:t>
            </a:r>
            <a:r>
              <a:rPr lang="en-SG" sz="1600" dirty="0"/>
              <a:t> </a:t>
            </a:r>
            <a:r>
              <a:rPr lang="en-SG" sz="1600" dirty="0" err="1"/>
              <a:t>tập</a:t>
            </a:r>
            <a:r>
              <a:rPr lang="en-SG" sz="1600" dirty="0"/>
              <a:t> </a:t>
            </a:r>
            <a:r>
              <a:rPr lang="en-SG" sz="1600" dirty="0" err="1"/>
              <a:t>huấn</a:t>
            </a:r>
            <a:r>
              <a:rPr lang="en-SG" sz="1600" dirty="0"/>
              <a:t> </a:t>
            </a:r>
            <a:r>
              <a:rPr lang="en-SG" sz="1600" dirty="0" err="1"/>
              <a:t>luyện</a:t>
            </a:r>
            <a:r>
              <a:rPr lang="en-SG" sz="1600" dirty="0"/>
              <a:t> </a:t>
            </a:r>
            <a:r>
              <a:rPr lang="en-SG" sz="1600" dirty="0" err="1"/>
              <a:t>tăng</a:t>
            </a:r>
            <a:r>
              <a:rPr lang="en-SG" sz="1600" dirty="0"/>
              <a:t> </a:t>
            </a:r>
            <a:r>
              <a:rPr lang="en-SG" sz="1600" dirty="0" err="1"/>
              <a:t>lên</a:t>
            </a:r>
            <a:r>
              <a:rPr lang="en-SG" sz="1600" dirty="0"/>
              <a:t> </a:t>
            </a:r>
            <a:r>
              <a:rPr lang="en-SG" sz="1600" b="1" dirty="0"/>
              <a:t>99.89%</a:t>
            </a:r>
            <a:r>
              <a:rPr lang="en-SG" sz="1600" dirty="0"/>
              <a:t>.</a:t>
            </a:r>
          </a:p>
          <a:p>
            <a:r>
              <a:rPr lang="en-SG" sz="1600" dirty="0" err="1"/>
              <a:t>Độ</a:t>
            </a:r>
            <a:r>
              <a:rPr lang="en-SG" sz="1600" dirty="0"/>
              <a:t> </a:t>
            </a:r>
            <a:r>
              <a:rPr lang="en-SG" sz="1600" dirty="0" err="1"/>
              <a:t>chính</a:t>
            </a:r>
            <a:r>
              <a:rPr lang="en-SG" sz="1600" dirty="0"/>
              <a:t> </a:t>
            </a:r>
            <a:r>
              <a:rPr lang="en-SG" sz="1600" dirty="0" err="1"/>
              <a:t>xác</a:t>
            </a:r>
            <a:r>
              <a:rPr lang="en-SG" sz="1600" dirty="0"/>
              <a:t> </a:t>
            </a:r>
            <a:r>
              <a:rPr lang="en-SG" sz="1600" dirty="0" err="1"/>
              <a:t>trên</a:t>
            </a:r>
            <a:r>
              <a:rPr lang="en-SG" sz="1600" dirty="0"/>
              <a:t> </a:t>
            </a:r>
            <a:r>
              <a:rPr lang="en-SG" sz="1600" dirty="0" err="1"/>
              <a:t>tập</a:t>
            </a:r>
            <a:r>
              <a:rPr lang="en-SG" sz="1600" dirty="0"/>
              <a:t> </a:t>
            </a:r>
            <a:r>
              <a:rPr lang="en-SG" sz="1600" dirty="0" err="1"/>
              <a:t>kiểm</a:t>
            </a:r>
            <a:r>
              <a:rPr lang="en-SG" sz="1600" dirty="0"/>
              <a:t> </a:t>
            </a:r>
            <a:r>
              <a:rPr lang="en-SG" sz="1600" dirty="0" err="1"/>
              <a:t>định</a:t>
            </a:r>
            <a:r>
              <a:rPr lang="en-SG" sz="1600" dirty="0"/>
              <a:t> </a:t>
            </a:r>
            <a:r>
              <a:rPr lang="en-SG" sz="1600" dirty="0" err="1"/>
              <a:t>đạt</a:t>
            </a:r>
            <a:r>
              <a:rPr lang="en-SG" sz="1600" dirty="0"/>
              <a:t> </a:t>
            </a:r>
            <a:r>
              <a:rPr lang="en-SG" sz="1600" dirty="0" err="1"/>
              <a:t>cao</a:t>
            </a:r>
            <a:r>
              <a:rPr lang="en-SG" sz="1600" dirty="0"/>
              <a:t> </a:t>
            </a:r>
            <a:r>
              <a:rPr lang="en-SG" sz="1600" dirty="0" err="1"/>
              <a:t>nhất</a:t>
            </a:r>
            <a:r>
              <a:rPr lang="en-SG" sz="1600" dirty="0"/>
              <a:t> </a:t>
            </a:r>
            <a:r>
              <a:rPr lang="en-SG" sz="1600" b="1" dirty="0"/>
              <a:t>97.9%</a:t>
            </a:r>
            <a:r>
              <a:rPr lang="en-SG" sz="1600" dirty="0"/>
              <a:t> ở epoch 2.</a:t>
            </a:r>
          </a:p>
          <a:p>
            <a:r>
              <a:rPr lang="en-SG" sz="1600" b="1" dirty="0" err="1"/>
              <a:t>Dấu</a:t>
            </a:r>
            <a:r>
              <a:rPr lang="en-SG" sz="1600" b="1" dirty="0"/>
              <a:t> </a:t>
            </a:r>
            <a:r>
              <a:rPr lang="en-SG" sz="1600" b="1" dirty="0" err="1"/>
              <a:t>hiệu</a:t>
            </a:r>
            <a:r>
              <a:rPr lang="en-SG" sz="1600" b="1" dirty="0"/>
              <a:t> overfitting </a:t>
            </a:r>
            <a:r>
              <a:rPr lang="en-SG" sz="1600" b="1" dirty="0" err="1"/>
              <a:t>nhẹ</a:t>
            </a:r>
            <a:r>
              <a:rPr lang="en-SG" sz="1600" dirty="0"/>
              <a:t> </a:t>
            </a:r>
            <a:r>
              <a:rPr lang="en-SG" sz="1600" dirty="0" err="1"/>
              <a:t>sau</a:t>
            </a:r>
            <a:r>
              <a:rPr lang="en-SG" sz="1600" dirty="0"/>
              <a:t> epoch 2: Val loss </a:t>
            </a:r>
            <a:r>
              <a:rPr lang="en-SG" sz="1600" dirty="0" err="1"/>
              <a:t>tăng</a:t>
            </a:r>
            <a:r>
              <a:rPr lang="en-SG" sz="1600" dirty="0"/>
              <a:t> </a:t>
            </a:r>
            <a:r>
              <a:rPr lang="en-SG" sz="1600" dirty="0" err="1"/>
              <a:t>trong</a:t>
            </a:r>
            <a:r>
              <a:rPr lang="en-SG" sz="1600" dirty="0"/>
              <a:t> </a:t>
            </a:r>
            <a:r>
              <a:rPr lang="en-SG" sz="1600" dirty="0" err="1"/>
              <a:t>khi</a:t>
            </a:r>
            <a:r>
              <a:rPr lang="en-SG" sz="1600" dirty="0"/>
              <a:t> train loss </a:t>
            </a:r>
            <a:r>
              <a:rPr lang="en-SG" sz="1600" dirty="0" err="1"/>
              <a:t>giảm</a:t>
            </a:r>
            <a:r>
              <a:rPr lang="en-SG" sz="16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36D5D3-EBEA-52EC-6C42-006B8D146520}"/>
              </a:ext>
            </a:extLst>
          </p:cNvPr>
          <p:cNvPicPr>
            <a:picLocks noChangeAspect="1"/>
          </p:cNvPicPr>
          <p:nvPr/>
        </p:nvPicPr>
        <p:blipFill>
          <a:blip r:embed="rId2"/>
          <a:stretch>
            <a:fillRect/>
          </a:stretch>
        </p:blipFill>
        <p:spPr>
          <a:xfrm>
            <a:off x="380415" y="2531364"/>
            <a:ext cx="8383170" cy="3581900"/>
          </a:xfrm>
          <a:prstGeom prst="rect">
            <a:avLst/>
          </a:prstGeom>
        </p:spPr>
      </p:pic>
      <p:sp>
        <p:nvSpPr>
          <p:cNvPr id="10" name="Title 1">
            <a:extLst>
              <a:ext uri="{FF2B5EF4-FFF2-40B4-BE49-F238E27FC236}">
                <a16:creationId xmlns:a16="http://schemas.microsoft.com/office/drawing/2014/main" id="{6819052C-B587-FEF2-9F27-ECBBB002C782}"/>
              </a:ext>
            </a:extLst>
          </p:cNvPr>
          <p:cNvSpPr txBox="1">
            <a:spLocks/>
          </p:cNvSpPr>
          <p:nvPr/>
        </p:nvSpPr>
        <p:spPr>
          <a:xfrm>
            <a:off x="965199" y="609600"/>
            <a:ext cx="7648121" cy="10994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t>III. Kết quả thu được</a:t>
            </a:r>
            <a:endParaRPr lang="vi-VN" dirty="0"/>
          </a:p>
        </p:txBody>
      </p:sp>
      <p:sp>
        <p:nvSpPr>
          <p:cNvPr id="11" name="Content Placeholder 3">
            <a:extLst>
              <a:ext uri="{FF2B5EF4-FFF2-40B4-BE49-F238E27FC236}">
                <a16:creationId xmlns:a16="http://schemas.microsoft.com/office/drawing/2014/main" id="{ABBA2F2A-D624-0B4E-E045-110CA6FABA1E}"/>
              </a:ext>
            </a:extLst>
          </p:cNvPr>
          <p:cNvSpPr>
            <a:spLocks noGrp="1"/>
          </p:cNvSpPr>
          <p:nvPr>
            <p:ph idx="1"/>
          </p:nvPr>
        </p:nvSpPr>
        <p:spPr>
          <a:xfrm>
            <a:off x="609599" y="1852366"/>
            <a:ext cx="6347714" cy="3880773"/>
          </a:xfrm>
        </p:spPr>
        <p:txBody>
          <a:bodyPr/>
          <a:lstStyle/>
          <a:p>
            <a:pPr marL="0" indent="0">
              <a:buNone/>
            </a:pPr>
            <a:r>
              <a:rPr lang="en-SG" dirty="0" err="1"/>
              <a:t>Biểu</a:t>
            </a:r>
            <a:r>
              <a:rPr lang="en-SG" dirty="0"/>
              <a:t> </a:t>
            </a:r>
            <a:r>
              <a:rPr lang="en-SG" dirty="0" err="1"/>
              <a:t>đồ</a:t>
            </a:r>
            <a:r>
              <a:rPr lang="en-SG" dirty="0"/>
              <a:t> </a:t>
            </a:r>
            <a:r>
              <a:rPr lang="en-SG" dirty="0" err="1"/>
              <a:t>quá</a:t>
            </a:r>
            <a:r>
              <a:rPr lang="en-SG" dirty="0"/>
              <a:t> </a:t>
            </a:r>
            <a:r>
              <a:rPr lang="en-SG" dirty="0" err="1"/>
              <a:t>trình</a:t>
            </a:r>
            <a:r>
              <a:rPr lang="en-SG" dirty="0"/>
              <a:t> </a:t>
            </a:r>
            <a:r>
              <a:rPr lang="en-SG" dirty="0" err="1"/>
              <a:t>học</a:t>
            </a:r>
            <a:r>
              <a:rPr lang="en-SG" dirty="0"/>
              <a:t> :</a:t>
            </a:r>
          </a:p>
          <a:p>
            <a:endParaRPr lang="en-S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572527-49C7-BAFC-4D47-E904C396A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E5AD8-F27B-983C-AB0C-1F0448D1607E}"/>
              </a:ext>
            </a:extLst>
          </p:cNvPr>
          <p:cNvSpPr>
            <a:spLocks noGrp="1"/>
          </p:cNvSpPr>
          <p:nvPr>
            <p:ph type="title"/>
          </p:nvPr>
        </p:nvSpPr>
        <p:spPr>
          <a:xfrm>
            <a:off x="965199" y="609600"/>
            <a:ext cx="7648121" cy="1099457"/>
          </a:xfrm>
        </p:spPr>
        <p:txBody>
          <a:bodyPr>
            <a:normAutofit/>
          </a:bodyPr>
          <a:lstStyle/>
          <a:p>
            <a:r>
              <a:rPr lang="en-SG" dirty="0"/>
              <a:t>III. </a:t>
            </a:r>
            <a:r>
              <a:rPr dirty="0" err="1"/>
              <a:t>Kết</a:t>
            </a:r>
            <a:r>
              <a:rPr dirty="0"/>
              <a:t> </a:t>
            </a:r>
            <a:r>
              <a:rPr dirty="0" err="1"/>
              <a:t>quả</a:t>
            </a:r>
            <a:r>
              <a:rPr dirty="0"/>
              <a:t> </a:t>
            </a:r>
            <a:r>
              <a:rPr lang="en-SG" dirty="0" err="1"/>
              <a:t>thu</a:t>
            </a:r>
            <a:r>
              <a:rPr lang="en-SG" dirty="0"/>
              <a:t> </a:t>
            </a:r>
            <a:r>
              <a:rPr lang="en-SG" dirty="0" err="1"/>
              <a:t>được</a:t>
            </a:r>
            <a:endParaRPr dirty="0"/>
          </a:p>
        </p:txBody>
      </p:sp>
      <p:sp>
        <p:nvSpPr>
          <p:cNvPr id="4" name="Content Placeholder 3">
            <a:extLst>
              <a:ext uri="{FF2B5EF4-FFF2-40B4-BE49-F238E27FC236}">
                <a16:creationId xmlns:a16="http://schemas.microsoft.com/office/drawing/2014/main" id="{0760F01F-A147-4CA9-E145-784923031E00}"/>
              </a:ext>
            </a:extLst>
          </p:cNvPr>
          <p:cNvSpPr>
            <a:spLocks noGrp="1"/>
          </p:cNvSpPr>
          <p:nvPr>
            <p:ph idx="1"/>
          </p:nvPr>
        </p:nvSpPr>
        <p:spPr/>
        <p:txBody>
          <a:bodyPr>
            <a:noAutofit/>
          </a:bodyPr>
          <a:lstStyle/>
          <a:p>
            <a:pPr marL="0" lvl="0" indent="0" defTabSz="914400" eaLnBrk="0" fontAlgn="base" hangingPunct="0">
              <a:spcBef>
                <a:spcPct val="0"/>
              </a:spcBef>
              <a:spcAft>
                <a:spcPct val="0"/>
              </a:spcAft>
              <a:buClrTx/>
              <a:buSzTx/>
              <a:buNone/>
            </a:pPr>
            <a:r>
              <a:rPr lang="en-US" altLang="en-US" dirty="0" err="1">
                <a:solidFill>
                  <a:srgbClr val="0F1115"/>
                </a:solidFill>
              </a:rPr>
              <a:t>Kết</a:t>
            </a:r>
            <a:r>
              <a:rPr lang="en-US" altLang="en-US" dirty="0">
                <a:solidFill>
                  <a:srgbClr val="0F1115"/>
                </a:solidFill>
              </a:rPr>
              <a:t> </a:t>
            </a:r>
            <a:r>
              <a:rPr lang="en-US" altLang="en-US" dirty="0" err="1">
                <a:solidFill>
                  <a:srgbClr val="0F1115"/>
                </a:solidFill>
              </a:rPr>
              <a:t>quả</a:t>
            </a:r>
            <a:r>
              <a:rPr lang="en-US" altLang="en-US" dirty="0">
                <a:solidFill>
                  <a:srgbClr val="0F1115"/>
                </a:solidFill>
              </a:rPr>
              <a:t> </a:t>
            </a:r>
            <a:r>
              <a:rPr lang="en-US" altLang="en-US" dirty="0" err="1">
                <a:solidFill>
                  <a:srgbClr val="0F1115"/>
                </a:solidFill>
              </a:rPr>
              <a:t>tổng</a:t>
            </a:r>
            <a:r>
              <a:rPr lang="en-US" altLang="en-US" dirty="0">
                <a:solidFill>
                  <a:srgbClr val="0F1115"/>
                </a:solidFill>
              </a:rPr>
              <a:t> </a:t>
            </a:r>
            <a:r>
              <a:rPr lang="en-US" altLang="en-US" dirty="0" err="1">
                <a:solidFill>
                  <a:srgbClr val="0F1115"/>
                </a:solidFill>
              </a:rPr>
              <a:t>quan</a:t>
            </a:r>
            <a:r>
              <a:rPr lang="en-US" altLang="en-US" dirty="0">
                <a:solidFill>
                  <a:srgbClr val="0F1115"/>
                </a:solidFill>
              </a:rPr>
              <a:t>:</a:t>
            </a: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endParaRPr lang="en-US" altLang="en-US" dirty="0">
              <a:solidFill>
                <a:srgbClr val="0F1115"/>
              </a:solidFill>
            </a:endParaRPr>
          </a:p>
          <a:p>
            <a:pPr marL="0" lvl="0" indent="0" defTabSz="914400" eaLnBrk="0" fontAlgn="base" hangingPunct="0">
              <a:spcBef>
                <a:spcPct val="0"/>
              </a:spcBef>
              <a:spcAft>
                <a:spcPct val="0"/>
              </a:spcAft>
              <a:buClrTx/>
              <a:buSzTx/>
              <a:buNone/>
            </a:pPr>
            <a:r>
              <a:rPr lang="en-US" altLang="en-US" dirty="0" err="1">
                <a:solidFill>
                  <a:srgbClr val="0F1115"/>
                </a:solidFill>
              </a:rPr>
              <a:t>Độ</a:t>
            </a:r>
            <a:r>
              <a:rPr lang="en-US" altLang="en-US" dirty="0">
                <a:solidFill>
                  <a:srgbClr val="0F1115"/>
                </a:solidFill>
              </a:rPr>
              <a:t> </a:t>
            </a:r>
            <a:r>
              <a:rPr lang="en-US" altLang="en-US" dirty="0" err="1">
                <a:solidFill>
                  <a:srgbClr val="0F1115"/>
                </a:solidFill>
              </a:rPr>
              <a:t>chính</a:t>
            </a:r>
            <a:r>
              <a:rPr lang="en-US" altLang="en-US" dirty="0">
                <a:solidFill>
                  <a:srgbClr val="0F1115"/>
                </a:solidFill>
              </a:rPr>
              <a:t> </a:t>
            </a:r>
            <a:r>
              <a:rPr lang="en-US" altLang="en-US" dirty="0" err="1">
                <a:solidFill>
                  <a:srgbClr val="0F1115"/>
                </a:solidFill>
              </a:rPr>
              <a:t>xác</a:t>
            </a:r>
            <a:r>
              <a:rPr lang="en-US" altLang="en-US" dirty="0">
                <a:solidFill>
                  <a:srgbClr val="0F1115"/>
                </a:solidFill>
              </a:rPr>
              <a:t> </a:t>
            </a:r>
            <a:r>
              <a:rPr lang="en-US" altLang="en-US" dirty="0" err="1">
                <a:solidFill>
                  <a:srgbClr val="0F1115"/>
                </a:solidFill>
              </a:rPr>
              <a:t>tổng</a:t>
            </a:r>
            <a:r>
              <a:rPr lang="en-US" altLang="en-US" dirty="0">
                <a:solidFill>
                  <a:srgbClr val="0F1115"/>
                </a:solidFill>
              </a:rPr>
              <a:t> </a:t>
            </a:r>
            <a:r>
              <a:rPr lang="en-US" altLang="en-US" dirty="0" err="1">
                <a:solidFill>
                  <a:srgbClr val="0F1115"/>
                </a:solidFill>
              </a:rPr>
              <a:t>thể</a:t>
            </a:r>
            <a:r>
              <a:rPr lang="en-US" altLang="en-US" dirty="0">
                <a:solidFill>
                  <a:srgbClr val="0F1115"/>
                </a:solidFill>
              </a:rPr>
              <a:t> (Accuracy): 98.3%</a:t>
            </a:r>
          </a:p>
          <a:p>
            <a:pPr marL="0" lvl="0" indent="0" defTabSz="914400" eaLnBrk="0" fontAlgn="base" hangingPunct="0">
              <a:spcBef>
                <a:spcPct val="0"/>
              </a:spcBef>
              <a:spcAft>
                <a:spcPct val="0"/>
              </a:spcAft>
              <a:buClrTx/>
              <a:buSzTx/>
              <a:buNone/>
            </a:pPr>
            <a:r>
              <a:rPr lang="en-US" altLang="en-US" dirty="0" err="1">
                <a:solidFill>
                  <a:srgbClr val="0F1115"/>
                </a:solidFill>
              </a:rPr>
              <a:t>Kết</a:t>
            </a:r>
            <a:r>
              <a:rPr lang="en-US" altLang="en-US" dirty="0">
                <a:solidFill>
                  <a:srgbClr val="0F1115"/>
                </a:solidFill>
              </a:rPr>
              <a:t> </a:t>
            </a:r>
            <a:r>
              <a:rPr lang="en-US" altLang="en-US" dirty="0" err="1">
                <a:solidFill>
                  <a:srgbClr val="0F1115"/>
                </a:solidFill>
              </a:rPr>
              <a:t>luận</a:t>
            </a:r>
            <a:r>
              <a:rPr lang="en-US" altLang="en-US" dirty="0">
                <a:solidFill>
                  <a:srgbClr val="0F1115"/>
                </a:solidFill>
              </a:rPr>
              <a:t>:</a:t>
            </a:r>
            <a:endParaRPr lang="en-US" altLang="en-US" dirty="0">
              <a:solidFill>
                <a:schemeClr val="tx1"/>
              </a:solidFill>
            </a:endParaRPr>
          </a:p>
          <a:p>
            <a:pPr marL="0" lvl="0" indent="0" defTabSz="914400" eaLnBrk="0" fontAlgn="base" hangingPunct="0">
              <a:spcBef>
                <a:spcPct val="0"/>
              </a:spcBef>
              <a:spcAft>
                <a:spcPct val="0"/>
              </a:spcAft>
              <a:buClrTx/>
              <a:buSzTx/>
              <a:buFontTx/>
              <a:buChar char="•"/>
            </a:pPr>
            <a:r>
              <a:rPr lang="en-US" altLang="en-US" dirty="0" err="1">
                <a:solidFill>
                  <a:srgbClr val="0F1115"/>
                </a:solidFill>
              </a:rPr>
              <a:t>Mô</a:t>
            </a:r>
            <a:r>
              <a:rPr lang="en-US" altLang="en-US" dirty="0">
                <a:solidFill>
                  <a:srgbClr val="0F1115"/>
                </a:solidFill>
              </a:rPr>
              <a:t> </a:t>
            </a:r>
            <a:r>
              <a:rPr lang="en-US" altLang="en-US" dirty="0" err="1">
                <a:solidFill>
                  <a:srgbClr val="0F1115"/>
                </a:solidFill>
              </a:rPr>
              <a:t>hình</a:t>
            </a:r>
            <a:r>
              <a:rPr lang="en-US" altLang="en-US" dirty="0">
                <a:solidFill>
                  <a:srgbClr val="0F1115"/>
                </a:solidFill>
              </a:rPr>
              <a:t> </a:t>
            </a:r>
            <a:r>
              <a:rPr lang="en-US" altLang="en-US" dirty="0" err="1">
                <a:solidFill>
                  <a:srgbClr val="0F1115"/>
                </a:solidFill>
              </a:rPr>
              <a:t>có</a:t>
            </a:r>
            <a:r>
              <a:rPr lang="en-US" altLang="en-US" dirty="0">
                <a:solidFill>
                  <a:srgbClr val="0F1115"/>
                </a:solidFill>
              </a:rPr>
              <a:t> </a:t>
            </a:r>
            <a:r>
              <a:rPr lang="en-US" altLang="en-US" dirty="0" err="1">
                <a:solidFill>
                  <a:srgbClr val="0F1115"/>
                </a:solidFill>
              </a:rPr>
              <a:t>khả</a:t>
            </a:r>
            <a:r>
              <a:rPr lang="en-US" altLang="en-US" dirty="0">
                <a:solidFill>
                  <a:srgbClr val="0F1115"/>
                </a:solidFill>
              </a:rPr>
              <a:t> </a:t>
            </a:r>
            <a:r>
              <a:rPr lang="en-US" altLang="en-US" dirty="0" err="1">
                <a:solidFill>
                  <a:srgbClr val="0F1115"/>
                </a:solidFill>
              </a:rPr>
              <a:t>năng</a:t>
            </a:r>
            <a:r>
              <a:rPr lang="en-US" altLang="en-US" dirty="0">
                <a:solidFill>
                  <a:srgbClr val="0F1115"/>
                </a:solidFill>
              </a:rPr>
              <a:t> </a:t>
            </a:r>
            <a:r>
              <a:rPr lang="en-US" altLang="en-US" dirty="0" err="1">
                <a:solidFill>
                  <a:srgbClr val="0F1115"/>
                </a:solidFill>
              </a:rPr>
              <a:t>tổng</a:t>
            </a:r>
            <a:r>
              <a:rPr lang="en-US" altLang="en-US" dirty="0">
                <a:solidFill>
                  <a:srgbClr val="0F1115"/>
                </a:solidFill>
              </a:rPr>
              <a:t> </a:t>
            </a:r>
            <a:r>
              <a:rPr lang="en-US" altLang="en-US" dirty="0" err="1">
                <a:solidFill>
                  <a:srgbClr val="0F1115"/>
                </a:solidFill>
              </a:rPr>
              <a:t>quát</a:t>
            </a:r>
            <a:r>
              <a:rPr lang="en-US" altLang="en-US" dirty="0">
                <a:solidFill>
                  <a:srgbClr val="0F1115"/>
                </a:solidFill>
              </a:rPr>
              <a:t> </a:t>
            </a:r>
            <a:r>
              <a:rPr lang="en-US" altLang="en-US" dirty="0" err="1">
                <a:solidFill>
                  <a:srgbClr val="0F1115"/>
                </a:solidFill>
              </a:rPr>
              <a:t>hóa</a:t>
            </a:r>
            <a:r>
              <a:rPr lang="en-US" altLang="en-US" dirty="0">
                <a:solidFill>
                  <a:srgbClr val="0F1115"/>
                </a:solidFill>
              </a:rPr>
              <a:t> </a:t>
            </a:r>
            <a:r>
              <a:rPr lang="en-US" altLang="en-US" dirty="0" err="1">
                <a:solidFill>
                  <a:srgbClr val="0F1115"/>
                </a:solidFill>
              </a:rPr>
              <a:t>tốt</a:t>
            </a:r>
            <a:r>
              <a:rPr lang="en-US" altLang="en-US" dirty="0">
                <a:solidFill>
                  <a:srgbClr val="0F1115"/>
                </a:solidFill>
              </a:rPr>
              <a:t>.</a:t>
            </a:r>
          </a:p>
          <a:p>
            <a:pPr marL="0" lvl="0" indent="0" defTabSz="914400" eaLnBrk="0" fontAlgn="base" hangingPunct="0">
              <a:spcBef>
                <a:spcPct val="0"/>
              </a:spcBef>
              <a:spcAft>
                <a:spcPct val="0"/>
              </a:spcAft>
              <a:buClrTx/>
              <a:buSzTx/>
              <a:buFontTx/>
              <a:buChar char="•"/>
            </a:pPr>
            <a:r>
              <a:rPr lang="en-US" altLang="en-US" dirty="0" err="1">
                <a:solidFill>
                  <a:srgbClr val="0F1115"/>
                </a:solidFill>
              </a:rPr>
              <a:t>Cân</a:t>
            </a:r>
            <a:r>
              <a:rPr lang="en-US" altLang="en-US" dirty="0">
                <a:solidFill>
                  <a:srgbClr val="0F1115"/>
                </a:solidFill>
              </a:rPr>
              <a:t> </a:t>
            </a:r>
            <a:r>
              <a:rPr lang="en-US" altLang="en-US" dirty="0" err="1">
                <a:solidFill>
                  <a:srgbClr val="0F1115"/>
                </a:solidFill>
              </a:rPr>
              <a:t>bằng</a:t>
            </a:r>
            <a:r>
              <a:rPr lang="en-US" altLang="en-US" dirty="0">
                <a:solidFill>
                  <a:srgbClr val="0F1115"/>
                </a:solidFill>
              </a:rPr>
              <a:t> </a:t>
            </a:r>
            <a:r>
              <a:rPr lang="en-US" altLang="en-US" dirty="0" err="1">
                <a:solidFill>
                  <a:srgbClr val="0F1115"/>
                </a:solidFill>
              </a:rPr>
              <a:t>giữa</a:t>
            </a:r>
            <a:r>
              <a:rPr lang="en-US" altLang="en-US" dirty="0">
                <a:solidFill>
                  <a:srgbClr val="0F1115"/>
                </a:solidFill>
              </a:rPr>
              <a:t> </a:t>
            </a:r>
            <a:r>
              <a:rPr lang="en-US" altLang="en-US" dirty="0" err="1">
                <a:solidFill>
                  <a:srgbClr val="0F1115"/>
                </a:solidFill>
              </a:rPr>
              <a:t>các</a:t>
            </a:r>
            <a:r>
              <a:rPr lang="en-US" altLang="en-US" dirty="0">
                <a:solidFill>
                  <a:srgbClr val="0F1115"/>
                </a:solidFill>
              </a:rPr>
              <a:t> </a:t>
            </a:r>
            <a:r>
              <a:rPr lang="en-US" altLang="en-US" dirty="0" err="1">
                <a:solidFill>
                  <a:srgbClr val="0F1115"/>
                </a:solidFill>
              </a:rPr>
              <a:t>lớp</a:t>
            </a:r>
            <a:r>
              <a:rPr lang="en-US" altLang="en-US" dirty="0">
                <a:solidFill>
                  <a:srgbClr val="0F1115"/>
                </a:solidFill>
              </a:rPr>
              <a:t>: Các </a:t>
            </a:r>
            <a:r>
              <a:rPr lang="en-US" altLang="en-US" dirty="0" err="1">
                <a:solidFill>
                  <a:srgbClr val="0F1115"/>
                </a:solidFill>
              </a:rPr>
              <a:t>chỉ</a:t>
            </a:r>
            <a:r>
              <a:rPr lang="en-US" altLang="en-US" dirty="0">
                <a:solidFill>
                  <a:srgbClr val="0F1115"/>
                </a:solidFill>
              </a:rPr>
              <a:t> </a:t>
            </a:r>
            <a:r>
              <a:rPr lang="en-US" altLang="en-US" dirty="0" err="1">
                <a:solidFill>
                  <a:srgbClr val="0F1115"/>
                </a:solidFill>
              </a:rPr>
              <a:t>số</a:t>
            </a:r>
            <a:r>
              <a:rPr lang="en-US" altLang="en-US" dirty="0">
                <a:solidFill>
                  <a:srgbClr val="0F1115"/>
                </a:solidFill>
              </a:rPr>
              <a:t> </a:t>
            </a:r>
            <a:r>
              <a:rPr lang="en-US" altLang="en-US" dirty="0" err="1">
                <a:solidFill>
                  <a:srgbClr val="0F1115"/>
                </a:solidFill>
              </a:rPr>
              <a:t>cho</a:t>
            </a:r>
            <a:r>
              <a:rPr lang="en-US" altLang="en-US" dirty="0">
                <a:solidFill>
                  <a:srgbClr val="0F1115"/>
                </a:solidFill>
              </a:rPr>
              <a:t> </a:t>
            </a:r>
            <a:r>
              <a:rPr lang="en-US" altLang="en-US" dirty="0" err="1">
                <a:solidFill>
                  <a:srgbClr val="0F1115"/>
                </a:solidFill>
              </a:rPr>
              <a:t>cả</a:t>
            </a:r>
            <a:r>
              <a:rPr lang="en-US" altLang="en-US" dirty="0">
                <a:solidFill>
                  <a:srgbClr val="0F1115"/>
                </a:solidFill>
              </a:rPr>
              <a:t> </a:t>
            </a:r>
            <a:r>
              <a:rPr lang="en-US" altLang="en-US" dirty="0" err="1">
                <a:solidFill>
                  <a:srgbClr val="0F1115"/>
                </a:solidFill>
              </a:rPr>
              <a:t>hai</a:t>
            </a:r>
            <a:r>
              <a:rPr lang="en-US" altLang="en-US" dirty="0">
                <a:solidFill>
                  <a:srgbClr val="0F1115"/>
                </a:solidFill>
              </a:rPr>
              <a:t> </a:t>
            </a:r>
            <a:r>
              <a:rPr lang="en-US" altLang="en-US" dirty="0" err="1">
                <a:solidFill>
                  <a:srgbClr val="0F1115"/>
                </a:solidFill>
              </a:rPr>
              <a:t>lớp</a:t>
            </a:r>
            <a:r>
              <a:rPr lang="en-US" altLang="en-US" dirty="0">
                <a:solidFill>
                  <a:srgbClr val="0F1115"/>
                </a:solidFill>
              </a:rPr>
              <a:t> </a:t>
            </a:r>
            <a:r>
              <a:rPr lang="en-US" altLang="en-US" dirty="0" err="1">
                <a:solidFill>
                  <a:srgbClr val="0F1115"/>
                </a:solidFill>
              </a:rPr>
              <a:t>đều</a:t>
            </a:r>
            <a:r>
              <a:rPr lang="en-US" altLang="en-US" dirty="0">
                <a:solidFill>
                  <a:srgbClr val="0F1115"/>
                </a:solidFill>
              </a:rPr>
              <a:t> </a:t>
            </a:r>
            <a:r>
              <a:rPr lang="en-US" altLang="en-US" dirty="0" err="1">
                <a:solidFill>
                  <a:srgbClr val="0F1115"/>
                </a:solidFill>
              </a:rPr>
              <a:t>trên</a:t>
            </a:r>
            <a:r>
              <a:rPr lang="en-US" altLang="en-US" dirty="0">
                <a:solidFill>
                  <a:srgbClr val="0F1115"/>
                </a:solidFill>
              </a:rPr>
              <a:t> 98%.</a:t>
            </a:r>
          </a:p>
          <a:p>
            <a:pPr marL="0" lvl="0" indent="0" defTabSz="914400" eaLnBrk="0" fontAlgn="base" hangingPunct="0">
              <a:spcBef>
                <a:spcPct val="0"/>
              </a:spcBef>
              <a:spcAft>
                <a:spcPct val="0"/>
              </a:spcAft>
              <a:buClrTx/>
              <a:buSzTx/>
              <a:buNone/>
            </a:pPr>
            <a:endParaRPr lang="en-US" altLang="en-US" dirty="0">
              <a:solidFill>
                <a:schemeClr val="tx1"/>
              </a:solidFill>
            </a:endParaRPr>
          </a:p>
          <a:p>
            <a:pPr marL="0" lvl="0" indent="0" defTabSz="914400" eaLnBrk="0" fontAlgn="base" hangingPunct="0">
              <a:spcBef>
                <a:spcPct val="0"/>
              </a:spcBef>
              <a:spcAft>
                <a:spcPct val="0"/>
              </a:spcAft>
              <a:buClrTx/>
              <a:buSzTx/>
              <a:buFontTx/>
              <a:buChar char="•"/>
            </a:pPr>
            <a:endParaRPr lang="en-US" altLang="en-US" dirty="0">
              <a:solidFill>
                <a:srgbClr val="0F1115"/>
              </a:solidFill>
            </a:endParaRPr>
          </a:p>
        </p:txBody>
      </p:sp>
      <p:graphicFrame>
        <p:nvGraphicFramePr>
          <p:cNvPr id="3" name="Table 2">
            <a:extLst>
              <a:ext uri="{FF2B5EF4-FFF2-40B4-BE49-F238E27FC236}">
                <a16:creationId xmlns:a16="http://schemas.microsoft.com/office/drawing/2014/main" id="{CA23F35C-3CE0-B9E2-F1D3-2227C4830C0C}"/>
              </a:ext>
            </a:extLst>
          </p:cNvPr>
          <p:cNvGraphicFramePr>
            <a:graphicFrameLocks noGrp="1"/>
          </p:cNvGraphicFramePr>
          <p:nvPr>
            <p:extLst>
              <p:ext uri="{D42A27DB-BD31-4B8C-83A1-F6EECF244321}">
                <p14:modId xmlns:p14="http://schemas.microsoft.com/office/powerpoint/2010/main" val="2641893922"/>
              </p:ext>
            </p:extLst>
          </p:nvPr>
        </p:nvGraphicFramePr>
        <p:xfrm>
          <a:off x="609599" y="2699617"/>
          <a:ext cx="6251361" cy="1630216"/>
        </p:xfrm>
        <a:graphic>
          <a:graphicData uri="http://schemas.openxmlformats.org/drawingml/2006/table">
            <a:tbl>
              <a:tblPr>
                <a:tableStyleId>{616DA210-FB5B-4158-B5E0-FEB733F419BA}</a:tableStyleId>
              </a:tblPr>
              <a:tblGrid>
                <a:gridCol w="2083787">
                  <a:extLst>
                    <a:ext uri="{9D8B030D-6E8A-4147-A177-3AD203B41FA5}">
                      <a16:colId xmlns:a16="http://schemas.microsoft.com/office/drawing/2014/main" val="601004043"/>
                    </a:ext>
                  </a:extLst>
                </a:gridCol>
                <a:gridCol w="2083787">
                  <a:extLst>
                    <a:ext uri="{9D8B030D-6E8A-4147-A177-3AD203B41FA5}">
                      <a16:colId xmlns:a16="http://schemas.microsoft.com/office/drawing/2014/main" val="437402580"/>
                    </a:ext>
                  </a:extLst>
                </a:gridCol>
                <a:gridCol w="2083787">
                  <a:extLst>
                    <a:ext uri="{9D8B030D-6E8A-4147-A177-3AD203B41FA5}">
                      <a16:colId xmlns:a16="http://schemas.microsoft.com/office/drawing/2014/main" val="1008182565"/>
                    </a:ext>
                  </a:extLst>
                </a:gridCol>
              </a:tblGrid>
              <a:tr h="0">
                <a:tc>
                  <a:txBody>
                    <a:bodyPr/>
                    <a:lstStyle/>
                    <a:p>
                      <a:pPr algn="l">
                        <a:lnSpc>
                          <a:spcPts val="1875"/>
                        </a:lnSpc>
                        <a:buNone/>
                      </a:pPr>
                      <a:r>
                        <a:rPr lang="en-SG" b="0">
                          <a:effectLst/>
                        </a:rPr>
                        <a:t>Chỉ Số</a:t>
                      </a:r>
                      <a:endParaRPr lang="en-SG" b="0">
                        <a:effectLst/>
                        <a:latin typeface="quote-cjk-patch"/>
                      </a:endParaRPr>
                    </a:p>
                  </a:txBody>
                  <a:tcPr marR="133004" marT="83127" marB="83127" anchor="ctr"/>
                </a:tc>
                <a:tc>
                  <a:txBody>
                    <a:bodyPr/>
                    <a:lstStyle/>
                    <a:p>
                      <a:pPr algn="l">
                        <a:lnSpc>
                          <a:spcPts val="1875"/>
                        </a:lnSpc>
                        <a:buNone/>
                      </a:pPr>
                      <a:r>
                        <a:rPr lang="en-SG" b="0">
                          <a:effectLst/>
                        </a:rPr>
                        <a:t>Lớp 0 - Non-Food</a:t>
                      </a:r>
                      <a:endParaRPr lang="en-SG" b="0">
                        <a:effectLst/>
                        <a:latin typeface="quote-cjk-patch"/>
                      </a:endParaRPr>
                    </a:p>
                  </a:txBody>
                  <a:tcPr marL="133004" marR="133004" marT="83127" marB="83127" anchor="ctr"/>
                </a:tc>
                <a:tc>
                  <a:txBody>
                    <a:bodyPr/>
                    <a:lstStyle/>
                    <a:p>
                      <a:pPr algn="l">
                        <a:lnSpc>
                          <a:spcPts val="1875"/>
                        </a:lnSpc>
                        <a:buNone/>
                      </a:pPr>
                      <a:r>
                        <a:rPr lang="en-SG" b="0">
                          <a:effectLst/>
                        </a:rPr>
                        <a:t>Lớp 1 - Food</a:t>
                      </a:r>
                      <a:endParaRPr lang="en-SG" b="0">
                        <a:effectLst/>
                        <a:latin typeface="quote-cjk-patch"/>
                      </a:endParaRPr>
                    </a:p>
                  </a:txBody>
                  <a:tcPr marL="133004" marR="133004" marT="83127" marB="83127" anchor="ctr"/>
                </a:tc>
                <a:extLst>
                  <a:ext uri="{0D108BD9-81ED-4DB2-BD59-A6C34878D82A}">
                    <a16:rowId xmlns:a16="http://schemas.microsoft.com/office/drawing/2014/main" val="494040463"/>
                  </a:ext>
                </a:extLst>
              </a:tr>
              <a:tr h="0">
                <a:tc>
                  <a:txBody>
                    <a:bodyPr/>
                    <a:lstStyle/>
                    <a:p>
                      <a:pPr>
                        <a:lnSpc>
                          <a:spcPts val="1875"/>
                        </a:lnSpc>
                        <a:buNone/>
                      </a:pPr>
                      <a:r>
                        <a:rPr lang="en-SG" b="0">
                          <a:effectLst/>
                        </a:rPr>
                        <a:t>Precision</a:t>
                      </a:r>
                      <a:endParaRPr lang="en-SG" b="0">
                        <a:effectLst/>
                        <a:latin typeface="quote-cjk-patch"/>
                      </a:endParaRPr>
                    </a:p>
                  </a:txBody>
                  <a:tcPr marR="133004" marT="83127" marB="83127" anchor="ctr"/>
                </a:tc>
                <a:tc>
                  <a:txBody>
                    <a:bodyPr/>
                    <a:lstStyle/>
                    <a:p>
                      <a:pPr>
                        <a:lnSpc>
                          <a:spcPts val="1875"/>
                        </a:lnSpc>
                        <a:buNone/>
                      </a:pPr>
                      <a:r>
                        <a:rPr lang="en-SG" b="0" dirty="0">
                          <a:effectLst/>
                        </a:rPr>
                        <a:t>98.1%</a:t>
                      </a:r>
                      <a:endParaRPr lang="en-SG" b="0" dirty="0">
                        <a:effectLst/>
                        <a:latin typeface="quote-cjk-patch"/>
                      </a:endParaRPr>
                    </a:p>
                  </a:txBody>
                  <a:tcPr marL="133004" marR="133004" marT="83127" marB="83127" anchor="ctr"/>
                </a:tc>
                <a:tc>
                  <a:txBody>
                    <a:bodyPr/>
                    <a:lstStyle/>
                    <a:p>
                      <a:pPr>
                        <a:lnSpc>
                          <a:spcPts val="1875"/>
                        </a:lnSpc>
                        <a:buNone/>
                      </a:pPr>
                      <a:r>
                        <a:rPr lang="en-SG" b="0">
                          <a:effectLst/>
                        </a:rPr>
                        <a:t>98.4%</a:t>
                      </a:r>
                      <a:endParaRPr lang="en-SG" b="0">
                        <a:effectLst/>
                        <a:latin typeface="quote-cjk-patch"/>
                      </a:endParaRPr>
                    </a:p>
                  </a:txBody>
                  <a:tcPr marL="133004" marT="83127" marB="83127" anchor="ctr"/>
                </a:tc>
                <a:extLst>
                  <a:ext uri="{0D108BD9-81ED-4DB2-BD59-A6C34878D82A}">
                    <a16:rowId xmlns:a16="http://schemas.microsoft.com/office/drawing/2014/main" val="838075254"/>
                  </a:ext>
                </a:extLst>
              </a:tr>
              <a:tr h="0">
                <a:tc>
                  <a:txBody>
                    <a:bodyPr/>
                    <a:lstStyle/>
                    <a:p>
                      <a:pPr>
                        <a:lnSpc>
                          <a:spcPts val="1875"/>
                        </a:lnSpc>
                        <a:buNone/>
                      </a:pPr>
                      <a:r>
                        <a:rPr lang="en-SG" b="0">
                          <a:effectLst/>
                        </a:rPr>
                        <a:t>Recall</a:t>
                      </a:r>
                      <a:endParaRPr lang="en-SG" b="0">
                        <a:effectLst/>
                        <a:latin typeface="quote-cjk-patch"/>
                      </a:endParaRPr>
                    </a:p>
                  </a:txBody>
                  <a:tcPr marR="133004" marT="83127" marB="83127" anchor="ctr"/>
                </a:tc>
                <a:tc>
                  <a:txBody>
                    <a:bodyPr/>
                    <a:lstStyle/>
                    <a:p>
                      <a:pPr>
                        <a:lnSpc>
                          <a:spcPts val="1875"/>
                        </a:lnSpc>
                        <a:buNone/>
                      </a:pPr>
                      <a:r>
                        <a:rPr lang="en-SG" b="0" dirty="0">
                          <a:effectLst/>
                        </a:rPr>
                        <a:t>98.5%</a:t>
                      </a:r>
                      <a:endParaRPr lang="en-SG" b="0" dirty="0">
                        <a:effectLst/>
                        <a:latin typeface="quote-cjk-patch"/>
                      </a:endParaRPr>
                    </a:p>
                  </a:txBody>
                  <a:tcPr marL="133004" marR="133004" marT="83127" marB="83127" anchor="ctr"/>
                </a:tc>
                <a:tc>
                  <a:txBody>
                    <a:bodyPr/>
                    <a:lstStyle/>
                    <a:p>
                      <a:pPr>
                        <a:lnSpc>
                          <a:spcPts val="1875"/>
                        </a:lnSpc>
                        <a:buNone/>
                      </a:pPr>
                      <a:r>
                        <a:rPr lang="en-SG" b="0" dirty="0">
                          <a:effectLst/>
                        </a:rPr>
                        <a:t>98.2%</a:t>
                      </a:r>
                      <a:endParaRPr lang="en-SG" b="0" dirty="0">
                        <a:effectLst/>
                        <a:latin typeface="quote-cjk-patch"/>
                      </a:endParaRPr>
                    </a:p>
                  </a:txBody>
                  <a:tcPr marL="133004" marT="83127" marB="83127" anchor="ctr"/>
                </a:tc>
                <a:extLst>
                  <a:ext uri="{0D108BD9-81ED-4DB2-BD59-A6C34878D82A}">
                    <a16:rowId xmlns:a16="http://schemas.microsoft.com/office/drawing/2014/main" val="2135947361"/>
                  </a:ext>
                </a:extLst>
              </a:tr>
              <a:tr h="0">
                <a:tc>
                  <a:txBody>
                    <a:bodyPr/>
                    <a:lstStyle/>
                    <a:p>
                      <a:pPr>
                        <a:lnSpc>
                          <a:spcPts val="1875"/>
                        </a:lnSpc>
                        <a:buNone/>
                      </a:pPr>
                      <a:r>
                        <a:rPr lang="en-SG" b="0">
                          <a:effectLst/>
                        </a:rPr>
                        <a:t>F1-score</a:t>
                      </a:r>
                      <a:endParaRPr lang="en-SG" b="0">
                        <a:effectLst/>
                        <a:latin typeface="quote-cjk-patch"/>
                      </a:endParaRPr>
                    </a:p>
                  </a:txBody>
                  <a:tcPr marR="133004" marT="83127" marB="83127" anchor="ctr"/>
                </a:tc>
                <a:tc>
                  <a:txBody>
                    <a:bodyPr/>
                    <a:lstStyle/>
                    <a:p>
                      <a:pPr>
                        <a:lnSpc>
                          <a:spcPts val="1875"/>
                        </a:lnSpc>
                        <a:buNone/>
                      </a:pPr>
                      <a:r>
                        <a:rPr lang="en-SG" b="0" dirty="0">
                          <a:effectLst/>
                        </a:rPr>
                        <a:t>98.3%</a:t>
                      </a:r>
                      <a:endParaRPr lang="en-SG" b="0" dirty="0">
                        <a:effectLst/>
                        <a:latin typeface="quote-cjk-patch"/>
                      </a:endParaRPr>
                    </a:p>
                  </a:txBody>
                  <a:tcPr marL="133004" marR="133004" marT="83127" marB="83127" anchor="ctr"/>
                </a:tc>
                <a:tc>
                  <a:txBody>
                    <a:bodyPr/>
                    <a:lstStyle/>
                    <a:p>
                      <a:pPr>
                        <a:lnSpc>
                          <a:spcPts val="1875"/>
                        </a:lnSpc>
                        <a:buNone/>
                      </a:pPr>
                      <a:r>
                        <a:rPr lang="en-SG" b="0" dirty="0">
                          <a:effectLst/>
                        </a:rPr>
                        <a:t>98.3%</a:t>
                      </a:r>
                      <a:endParaRPr lang="en-SG" b="0" dirty="0">
                        <a:effectLst/>
                        <a:latin typeface="quote-cjk-patch"/>
                      </a:endParaRPr>
                    </a:p>
                  </a:txBody>
                  <a:tcPr marL="133004" marT="83127" marB="83127" anchor="ctr"/>
                </a:tc>
                <a:extLst>
                  <a:ext uri="{0D108BD9-81ED-4DB2-BD59-A6C34878D82A}">
                    <a16:rowId xmlns:a16="http://schemas.microsoft.com/office/drawing/2014/main" val="1247180881"/>
                  </a:ext>
                </a:extLst>
              </a:tr>
            </a:tbl>
          </a:graphicData>
        </a:graphic>
      </p:graphicFrame>
      <p:sp>
        <p:nvSpPr>
          <p:cNvPr id="5" name="Rectangle 1">
            <a:extLst>
              <a:ext uri="{FF2B5EF4-FFF2-40B4-BE49-F238E27FC236}">
                <a16:creationId xmlns:a16="http://schemas.microsoft.com/office/drawing/2014/main" id="{68C5DF6B-103C-6FD1-3759-916A40402679}"/>
              </a:ext>
            </a:extLst>
          </p:cNvPr>
          <p:cNvSpPr>
            <a:spLocks noChangeArrowheads="1"/>
          </p:cNvSpPr>
          <p:nvPr/>
        </p:nvSpPr>
        <p:spPr bwMode="auto">
          <a:xfrm>
            <a:off x="658813" y="3273666"/>
            <a:ext cx="65" cy="4821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645E38C1-E97C-AF7D-40BF-20FA1CBDC89D}"/>
              </a:ext>
            </a:extLst>
          </p:cNvPr>
          <p:cNvSpPr>
            <a:spLocks noChangeArrowheads="1"/>
          </p:cNvSpPr>
          <p:nvPr/>
        </p:nvSpPr>
        <p:spPr bwMode="auto">
          <a:xfrm>
            <a:off x="658813" y="3730866"/>
            <a:ext cx="65" cy="4821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4560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28F709-CFBA-4AF7-95A1-357B4FBE6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00D9D-A63A-1222-8B47-C2A7A54B7B29}"/>
              </a:ext>
            </a:extLst>
          </p:cNvPr>
          <p:cNvSpPr>
            <a:spLocks noGrp="1"/>
          </p:cNvSpPr>
          <p:nvPr>
            <p:ph type="title"/>
          </p:nvPr>
        </p:nvSpPr>
        <p:spPr>
          <a:xfrm>
            <a:off x="965199" y="609600"/>
            <a:ext cx="7648121" cy="1099457"/>
          </a:xfrm>
        </p:spPr>
        <p:txBody>
          <a:bodyPr>
            <a:normAutofit/>
          </a:bodyPr>
          <a:lstStyle/>
          <a:p>
            <a:r>
              <a:rPr lang="en-SG" dirty="0"/>
              <a:t>III. </a:t>
            </a:r>
            <a:r>
              <a:rPr dirty="0" err="1"/>
              <a:t>Kết</a:t>
            </a:r>
            <a:r>
              <a:rPr dirty="0"/>
              <a:t> </a:t>
            </a:r>
            <a:r>
              <a:rPr dirty="0" err="1"/>
              <a:t>quả</a:t>
            </a:r>
            <a:r>
              <a:rPr dirty="0"/>
              <a:t> </a:t>
            </a:r>
            <a:r>
              <a:rPr lang="en-SG" dirty="0" err="1"/>
              <a:t>thu</a:t>
            </a:r>
            <a:r>
              <a:rPr lang="en-SG" dirty="0"/>
              <a:t> </a:t>
            </a:r>
            <a:r>
              <a:rPr lang="en-SG" dirty="0" err="1"/>
              <a:t>được</a:t>
            </a:r>
            <a:endParaRPr dirty="0"/>
          </a:p>
        </p:txBody>
      </p:sp>
      <p:sp>
        <p:nvSpPr>
          <p:cNvPr id="4" name="Content Placeholder 3">
            <a:extLst>
              <a:ext uri="{FF2B5EF4-FFF2-40B4-BE49-F238E27FC236}">
                <a16:creationId xmlns:a16="http://schemas.microsoft.com/office/drawing/2014/main" id="{AE8ED525-B139-5CEA-46E4-FF793BA8CDEC}"/>
              </a:ext>
            </a:extLst>
          </p:cNvPr>
          <p:cNvSpPr>
            <a:spLocks noGrp="1"/>
          </p:cNvSpPr>
          <p:nvPr>
            <p:ph idx="1"/>
          </p:nvPr>
        </p:nvSpPr>
        <p:spPr>
          <a:xfrm>
            <a:off x="609598" y="1722348"/>
            <a:ext cx="7363147" cy="4791468"/>
          </a:xfrm>
        </p:spPr>
        <p:txBody>
          <a:bodyPr>
            <a:normAutofit/>
          </a:bodyPr>
          <a:lstStyle/>
          <a:p>
            <a:pPr marL="0" indent="0">
              <a:buNone/>
            </a:pPr>
            <a:r>
              <a:rPr lang="en-SG" b="1" dirty="0"/>
              <a:t>	</a:t>
            </a:r>
            <a:r>
              <a:rPr lang="vi-VN" b="1" dirty="0"/>
              <a:t>Đánh giá hiệu suất:</a:t>
            </a:r>
            <a:endParaRPr lang="vi-VN" dirty="0"/>
          </a:p>
          <a:p>
            <a:pPr marL="0" indent="0">
              <a:buNone/>
            </a:pPr>
            <a:r>
              <a:rPr lang="vi-VN" dirty="0"/>
              <a:t>Phương pháp fine-tuning ResNet50 kết hợp data augmentation đạt hiệu quả rất cao.</a:t>
            </a:r>
          </a:p>
          <a:p>
            <a:pPr marL="0" indent="0">
              <a:buNone/>
            </a:pPr>
            <a:r>
              <a:rPr lang="vi-VN" dirty="0"/>
              <a:t>Độ chính xác trên val và test đều trên 97%.</a:t>
            </a:r>
          </a:p>
          <a:p>
            <a:pPr marL="0" indent="0">
              <a:buNone/>
            </a:pPr>
            <a:r>
              <a:rPr lang="vi-VN" dirty="0"/>
              <a:t>Mô hình tận dụng tốt đặc trưng từ ImageNet.</a:t>
            </a:r>
          </a:p>
          <a:p>
            <a:pPr marL="0" indent="0">
              <a:buNone/>
            </a:pPr>
            <a:r>
              <a:rPr lang="en-SG" b="1" dirty="0"/>
              <a:t>	</a:t>
            </a:r>
            <a:r>
              <a:rPr lang="vi-VN" b="1" dirty="0"/>
              <a:t>Hạn chế:</a:t>
            </a:r>
            <a:endParaRPr lang="vi-VN" dirty="0"/>
          </a:p>
          <a:p>
            <a:pPr marL="0" indent="0">
              <a:buNone/>
            </a:pPr>
            <a:r>
              <a:rPr lang="vi-VN" dirty="0"/>
              <a:t>Overfitting nhẹ: Val loss tăng nhẹ ở các epoch cuối.</a:t>
            </a:r>
          </a:p>
          <a:p>
            <a:pPr marL="0" indent="0">
              <a:buNone/>
            </a:pPr>
            <a:r>
              <a:rPr lang="vi-VN" dirty="0"/>
              <a:t>Dao động validation accuracy sau epoch thứ 2.</a:t>
            </a:r>
            <a:endParaRPr lang="en-SG" dirty="0"/>
          </a:p>
          <a:p>
            <a:pPr marL="0" indent="0">
              <a:buNone/>
            </a:pPr>
            <a:r>
              <a:rPr lang="en-SG" dirty="0"/>
              <a:t>	</a:t>
            </a:r>
            <a:r>
              <a:rPr lang="en-SG" dirty="0" err="1"/>
              <a:t>Kết</a:t>
            </a:r>
            <a:r>
              <a:rPr lang="en-SG" dirty="0"/>
              <a:t> </a:t>
            </a:r>
            <a:r>
              <a:rPr lang="en-SG" dirty="0" err="1"/>
              <a:t>luận</a:t>
            </a:r>
            <a:r>
              <a:rPr lang="en-SG" dirty="0"/>
              <a:t>:</a:t>
            </a:r>
          </a:p>
          <a:p>
            <a:pPr marL="0" indent="0">
              <a:buNone/>
            </a:pPr>
            <a:r>
              <a:rPr lang="vi-VN" dirty="0"/>
              <a:t>Nghiên cứu này đã triển khai thành công phương pháp fine-tuning mô hình ResNet50 cho bài toán phân loại ảnh thực phẩm trên bộ dữ liệu Food-5K.</a:t>
            </a:r>
          </a:p>
        </p:txBody>
      </p:sp>
    </p:spTree>
    <p:extLst>
      <p:ext uri="{BB962C8B-B14F-4D97-AF65-F5344CB8AC3E}">
        <p14:creationId xmlns:p14="http://schemas.microsoft.com/office/powerpoint/2010/main" val="3242058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171B36-8C94-7E0D-2CBB-068CA5E2F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D9D4D-5F29-4947-4DEF-A9CFC0EDC638}"/>
              </a:ext>
            </a:extLst>
          </p:cNvPr>
          <p:cNvSpPr>
            <a:spLocks noGrp="1"/>
          </p:cNvSpPr>
          <p:nvPr>
            <p:ph type="title"/>
          </p:nvPr>
        </p:nvSpPr>
        <p:spPr>
          <a:xfrm>
            <a:off x="965199" y="609600"/>
            <a:ext cx="7648121" cy="1099457"/>
          </a:xfrm>
        </p:spPr>
        <p:txBody>
          <a:bodyPr>
            <a:normAutofit/>
          </a:bodyPr>
          <a:lstStyle/>
          <a:p>
            <a:r>
              <a:rPr lang="en-SG" dirty="0"/>
              <a:t>III. </a:t>
            </a:r>
            <a:r>
              <a:rPr dirty="0" err="1"/>
              <a:t>Kết</a:t>
            </a:r>
            <a:r>
              <a:rPr dirty="0"/>
              <a:t> </a:t>
            </a:r>
            <a:r>
              <a:rPr dirty="0" err="1"/>
              <a:t>quả</a:t>
            </a:r>
            <a:r>
              <a:rPr dirty="0"/>
              <a:t> </a:t>
            </a:r>
            <a:r>
              <a:rPr lang="en-SG" dirty="0" err="1"/>
              <a:t>thu</a:t>
            </a:r>
            <a:r>
              <a:rPr lang="en-SG" dirty="0"/>
              <a:t> </a:t>
            </a:r>
            <a:r>
              <a:rPr lang="en-SG" dirty="0" err="1"/>
              <a:t>được</a:t>
            </a:r>
            <a:endParaRPr dirty="0"/>
          </a:p>
        </p:txBody>
      </p:sp>
      <p:sp>
        <p:nvSpPr>
          <p:cNvPr id="4" name="Content Placeholder 3">
            <a:extLst>
              <a:ext uri="{FF2B5EF4-FFF2-40B4-BE49-F238E27FC236}">
                <a16:creationId xmlns:a16="http://schemas.microsoft.com/office/drawing/2014/main" id="{951686B0-536D-C313-B501-6AAB5FFA1888}"/>
              </a:ext>
            </a:extLst>
          </p:cNvPr>
          <p:cNvSpPr>
            <a:spLocks noGrp="1"/>
          </p:cNvSpPr>
          <p:nvPr>
            <p:ph idx="1"/>
          </p:nvPr>
        </p:nvSpPr>
        <p:spPr>
          <a:xfrm>
            <a:off x="609598" y="2047575"/>
            <a:ext cx="7332325" cy="4507338"/>
          </a:xfrm>
        </p:spPr>
        <p:txBody>
          <a:bodyPr>
            <a:normAutofit/>
          </a:bodyPr>
          <a:lstStyle/>
          <a:p>
            <a:pPr marL="0" indent="0">
              <a:buNone/>
            </a:pPr>
            <a:r>
              <a:rPr lang="vi-VN" dirty="0"/>
              <a:t>Dựa trên những kết quả đã đạt được và các hạn chế được phát hiện trong quá trình nghiên cứu, hệ thống có thể có một số hướng phát triển trong tương lai: </a:t>
            </a:r>
            <a:endParaRPr lang="en-SG" dirty="0"/>
          </a:p>
          <a:p>
            <a:pPr marL="0" indent="0">
              <a:buNone/>
            </a:pPr>
            <a:r>
              <a:rPr lang="vi-VN" dirty="0"/>
              <a:t>• Mở rộng dữ liệu: Thu thập và bổ sung thêm dữ liệu đa dạng về các loại thực phẩm, điều kiện chụp ảnh khác nhau </a:t>
            </a:r>
            <a:endParaRPr lang="en-SG" dirty="0"/>
          </a:p>
          <a:p>
            <a:pPr marL="0" indent="0">
              <a:buNone/>
            </a:pPr>
            <a:r>
              <a:rPr lang="vi-VN" dirty="0"/>
              <a:t>• Thử nghiệm kiến trúc mới: Đánh giá hiệu năng của các kiến trúc hiện đại để so sánh và lựa chọn phương pháp tối ưu nhất. </a:t>
            </a:r>
            <a:endParaRPr lang="en-SG" dirty="0"/>
          </a:p>
          <a:p>
            <a:pPr marL="0" indent="0">
              <a:buNone/>
            </a:pPr>
            <a:r>
              <a:rPr lang="vi-VN" dirty="0"/>
              <a:t>• Mở rộng bài toán: Phát triển từ phân loại nhị phân (Food vs Non-Food) sang phân loại đa lớp (multiclass classification) </a:t>
            </a:r>
            <a:endParaRPr lang="en-SG" dirty="0"/>
          </a:p>
          <a:p>
            <a:pPr marL="0" indent="0">
              <a:buNone/>
            </a:pPr>
            <a:r>
              <a:rPr lang="vi-VN" dirty="0"/>
              <a:t>• Ứng dụng thực tiễn: Tích hợp mô hình vào các hệ thống thực tế</a:t>
            </a:r>
          </a:p>
        </p:txBody>
      </p:sp>
    </p:spTree>
    <p:extLst>
      <p:ext uri="{BB962C8B-B14F-4D97-AF65-F5344CB8AC3E}">
        <p14:creationId xmlns:p14="http://schemas.microsoft.com/office/powerpoint/2010/main" val="3603770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5F824-4218-8905-8FFA-0481060AB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24AA0-2693-506C-8E54-0D389761116F}"/>
              </a:ext>
            </a:extLst>
          </p:cNvPr>
          <p:cNvSpPr>
            <a:spLocks noGrp="1"/>
          </p:cNvSpPr>
          <p:nvPr>
            <p:ph type="title"/>
          </p:nvPr>
        </p:nvSpPr>
        <p:spPr>
          <a:xfrm>
            <a:off x="965199" y="609600"/>
            <a:ext cx="7648121" cy="1099457"/>
          </a:xfrm>
        </p:spPr>
        <p:txBody>
          <a:bodyPr>
            <a:normAutofit/>
          </a:bodyPr>
          <a:lstStyle/>
          <a:p>
            <a:r>
              <a:rPr lang="en-SG" dirty="0"/>
              <a:t>IV. </a:t>
            </a:r>
            <a:r>
              <a:rPr lang="en-SG" dirty="0" err="1"/>
              <a:t>Triển</a:t>
            </a:r>
            <a:r>
              <a:rPr lang="en-SG" dirty="0"/>
              <a:t> </a:t>
            </a:r>
            <a:r>
              <a:rPr lang="en-SG" dirty="0" err="1"/>
              <a:t>khai</a:t>
            </a:r>
            <a:r>
              <a:rPr lang="en-SG" dirty="0"/>
              <a:t> </a:t>
            </a:r>
            <a:r>
              <a:rPr lang="en-SG" dirty="0" err="1"/>
              <a:t>trên</a:t>
            </a:r>
            <a:r>
              <a:rPr lang="en-SG" dirty="0"/>
              <a:t> Kaggle</a:t>
            </a:r>
            <a:endParaRPr dirty="0"/>
          </a:p>
        </p:txBody>
      </p:sp>
      <p:sp>
        <p:nvSpPr>
          <p:cNvPr id="4" name="Content Placeholder 3">
            <a:extLst>
              <a:ext uri="{FF2B5EF4-FFF2-40B4-BE49-F238E27FC236}">
                <a16:creationId xmlns:a16="http://schemas.microsoft.com/office/drawing/2014/main" id="{DD18A238-C686-135C-4979-2E77F2CB978C}"/>
              </a:ext>
            </a:extLst>
          </p:cNvPr>
          <p:cNvSpPr>
            <a:spLocks noGrp="1"/>
          </p:cNvSpPr>
          <p:nvPr>
            <p:ph idx="1"/>
          </p:nvPr>
        </p:nvSpPr>
        <p:spPr>
          <a:xfrm>
            <a:off x="609598" y="2465797"/>
            <a:ext cx="7332325" cy="4089115"/>
          </a:xfrm>
        </p:spPr>
        <p:txBody>
          <a:bodyPr>
            <a:normAutofit/>
          </a:bodyPr>
          <a:lstStyle/>
          <a:p>
            <a:pPr marL="0" indent="0">
              <a:buNone/>
            </a:pPr>
            <a:r>
              <a:rPr lang="en-US" dirty="0"/>
              <a:t>- </a:t>
            </a:r>
            <a:r>
              <a:rPr lang="en-US" dirty="0" err="1"/>
              <a:t>Đường</a:t>
            </a:r>
            <a:r>
              <a:rPr lang="en-US" dirty="0"/>
              <a:t> </a:t>
            </a:r>
            <a:r>
              <a:rPr lang="en-US" dirty="0" err="1"/>
              <a:t>dẫn</a:t>
            </a:r>
            <a:r>
              <a:rPr lang="en-US" dirty="0"/>
              <a:t> </a:t>
            </a:r>
            <a:r>
              <a:rPr lang="en-US" dirty="0" err="1"/>
              <a:t>tới</a:t>
            </a:r>
            <a:r>
              <a:rPr lang="en-US" dirty="0"/>
              <a:t> notebook Kaggle:</a:t>
            </a:r>
          </a:p>
          <a:p>
            <a:pPr marL="0" indent="0">
              <a:buNone/>
            </a:pPr>
            <a:r>
              <a:rPr lang="en-US" dirty="0">
                <a:hlinkClick r:id="rId2"/>
              </a:rPr>
              <a:t>https://www.kaggle.com/code/kienlytran/food-5k-feature-extraction-with-resnet50-keras</a:t>
            </a:r>
            <a:r>
              <a:rPr lang="en-US" dirty="0"/>
              <a:t>	</a:t>
            </a:r>
          </a:p>
          <a:p>
            <a:pPr marL="0" indent="0">
              <a:buNone/>
            </a:pPr>
            <a:r>
              <a:rPr lang="en-SG" dirty="0"/>
              <a:t>- </a:t>
            </a:r>
            <a:r>
              <a:rPr lang="en-SG" dirty="0" err="1"/>
              <a:t>Đường</a:t>
            </a:r>
            <a:r>
              <a:rPr lang="en-SG" dirty="0"/>
              <a:t> </a:t>
            </a:r>
            <a:r>
              <a:rPr lang="en-SG" dirty="0" err="1"/>
              <a:t>dẫn</a:t>
            </a:r>
            <a:r>
              <a:rPr lang="en-SG" dirty="0"/>
              <a:t> </a:t>
            </a:r>
            <a:r>
              <a:rPr lang="en-SG" dirty="0" err="1"/>
              <a:t>tới</a:t>
            </a:r>
            <a:r>
              <a:rPr lang="en-SG" dirty="0"/>
              <a:t> :</a:t>
            </a:r>
          </a:p>
          <a:p>
            <a:pPr marL="0" indent="0">
              <a:buNone/>
            </a:pPr>
            <a:r>
              <a:rPr lang="en-SG" dirty="0">
                <a:hlinkClick r:id="rId2"/>
              </a:rPr>
              <a:t>https://www.kaggle.com/code/kienlytran/food-5k-feature-extraction-with-resnet50-keras</a:t>
            </a:r>
            <a:r>
              <a:rPr lang="en-SG" dirty="0"/>
              <a:t>	</a:t>
            </a:r>
          </a:p>
          <a:p>
            <a:pPr marL="0" indent="0">
              <a:buNone/>
            </a:pPr>
            <a:r>
              <a:rPr lang="en-SG" dirty="0"/>
              <a:t>- </a:t>
            </a:r>
            <a:r>
              <a:rPr lang="en-SG" dirty="0" err="1"/>
              <a:t>Đường</a:t>
            </a:r>
            <a:r>
              <a:rPr lang="en-SG" dirty="0"/>
              <a:t> </a:t>
            </a:r>
            <a:r>
              <a:rPr lang="en-SG" dirty="0" err="1"/>
              <a:t>dẫn</a:t>
            </a:r>
            <a:r>
              <a:rPr lang="en-SG" dirty="0"/>
              <a:t> </a:t>
            </a:r>
            <a:r>
              <a:rPr lang="en-SG" dirty="0" err="1"/>
              <a:t>tới</a:t>
            </a:r>
            <a:r>
              <a:rPr lang="en-SG" dirty="0"/>
              <a:t> video </a:t>
            </a:r>
            <a:r>
              <a:rPr lang="en-SG" dirty="0" err="1"/>
              <a:t>hướng</a:t>
            </a:r>
            <a:r>
              <a:rPr lang="en-SG" dirty="0"/>
              <a:t> </a:t>
            </a:r>
            <a:r>
              <a:rPr lang="en-SG" dirty="0" err="1"/>
              <a:t>dẫn</a:t>
            </a:r>
            <a:r>
              <a:rPr lang="en-SG" dirty="0"/>
              <a:t> </a:t>
            </a:r>
            <a:r>
              <a:rPr lang="en-SG" dirty="0" err="1"/>
              <a:t>sử</a:t>
            </a:r>
            <a:r>
              <a:rPr lang="en-SG" dirty="0"/>
              <a:t> </a:t>
            </a:r>
            <a:r>
              <a:rPr lang="en-SG" dirty="0" err="1"/>
              <a:t>dụng</a:t>
            </a:r>
            <a:r>
              <a:rPr lang="en-SG" dirty="0"/>
              <a:t> notebook Kaggle:</a:t>
            </a:r>
          </a:p>
          <a:p>
            <a:pPr marL="0" indent="0">
              <a:buNone/>
            </a:pPr>
            <a:r>
              <a:rPr lang="vi-VN" dirty="0">
                <a:hlinkClick r:id="rId3"/>
              </a:rPr>
              <a:t>https://drive.google.com/file/d/1iWX9pucgM5IcUB0wUUXJ9XkYhk01Zz7t/view?usp=sharing</a:t>
            </a:r>
            <a:r>
              <a:rPr lang="en-SG" dirty="0"/>
              <a:t>	</a:t>
            </a:r>
            <a:endParaRPr lang="vi-VN" dirty="0"/>
          </a:p>
        </p:txBody>
      </p:sp>
    </p:spTree>
    <p:extLst>
      <p:ext uri="{BB962C8B-B14F-4D97-AF65-F5344CB8AC3E}">
        <p14:creationId xmlns:p14="http://schemas.microsoft.com/office/powerpoint/2010/main" val="3323443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2962" y="1179151"/>
            <a:ext cx="5289065" cy="4463889"/>
          </a:xfrm>
        </p:spPr>
        <p:txBody>
          <a:bodyPr anchor="ctr">
            <a:normAutofit/>
          </a:bodyPr>
          <a:lstStyle/>
          <a:p>
            <a:r>
              <a:rPr lang="en-SG" dirty="0"/>
              <a:t>Thank you for listening &lt;3</a:t>
            </a:r>
            <a:endParaRPr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129</TotalTime>
  <Words>1700</Words>
  <Application>Microsoft Office PowerPoint</Application>
  <PresentationFormat>On-screen Show (4:3)</PresentationFormat>
  <Paragraphs>200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quote-cjk-patch</vt:lpstr>
      <vt:lpstr>Times New Roman</vt:lpstr>
      <vt:lpstr>Wingdings 3</vt:lpstr>
      <vt:lpstr>Facet</vt:lpstr>
      <vt:lpstr>Food and non-Food classification</vt:lpstr>
      <vt:lpstr>Thông tin dự án</vt:lpstr>
      <vt:lpstr>Outline</vt:lpstr>
      <vt:lpstr>I.Giới thiệu về đề tài</vt:lpstr>
      <vt:lpstr>PowerPoint Presentation</vt:lpstr>
      <vt:lpstr>II.Phương pháp nghiên cứu &amp; triển khai</vt:lpstr>
      <vt:lpstr>II.Phương pháp nghiên cứu &amp; triển khai</vt:lpstr>
      <vt:lpstr>II.Phương pháp nghiên cứu &amp; triển khai</vt:lpstr>
      <vt:lpstr>II.Phương pháp nghiên cứu &amp; triển khai</vt:lpstr>
      <vt:lpstr>PowerPoint Presentation</vt:lpstr>
      <vt:lpstr>PowerPoint Presentation</vt:lpstr>
      <vt:lpstr>PowerPoint Presentation</vt:lpstr>
      <vt:lpstr>PowerPoint Presentation</vt:lpstr>
      <vt:lpstr>PowerPoint Presentation</vt:lpstr>
      <vt:lpstr>III. Kết quả thu được</vt:lpstr>
      <vt:lpstr>PowerPoint Presentation</vt:lpstr>
      <vt:lpstr>III. Kết quả thu được</vt:lpstr>
      <vt:lpstr>III. Kết quả thu được</vt:lpstr>
      <vt:lpstr>III. Kết quả thu được</vt:lpstr>
      <vt:lpstr>IV. Triển khai trên Kaggle</vt:lpstr>
      <vt:lpstr>Thank you for listening &lt;3</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kien17112005@gmail.com.vn</cp:lastModifiedBy>
  <cp:revision>5</cp:revision>
  <dcterms:created xsi:type="dcterms:W3CDTF">2013-01-27T09:14:16Z</dcterms:created>
  <dcterms:modified xsi:type="dcterms:W3CDTF">2025-11-30T04:53:42Z</dcterms:modified>
  <cp:category/>
</cp:coreProperties>
</file>